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548640" y="731520"/>
            <a:ext cx="7772400" cy="1828800"/>
          </a:xfrm>
          <a:prstGeom prst="rect">
            <a:avLst/>
          </a:prstGeom>
          <a:noFill/>
          <a:ln/>
        </p:spPr>
        <p:txBody>
          <a:bodyPr wrap="square"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Karamoja Food Security</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Monitoring Tool</a:t>
            </a:r>
            <a:endParaRPr lang="en-US" sz="3800" dirty="0"/>
          </a:p>
        </p:txBody>
      </p:sp>
      <p:sp>
        <p:nvSpPr>
          <p:cNvPr id="4" name="Text 2"/>
          <p:cNvSpPr/>
          <p:nvPr/>
        </p:nvSpPr>
        <p:spPr>
          <a:xfrm>
            <a:off x="548640" y="2651760"/>
            <a:ext cx="6858000" cy="548640"/>
          </a:xfrm>
          <a:prstGeom prst="rect">
            <a:avLst/>
          </a:prstGeom>
          <a:noFill/>
          <a:ln/>
        </p:spPr>
        <p:txBody>
          <a:bodyPr wrap="square" rtlCol="0" anchor="ctr"/>
          <a:lstStyle/>
          <a:p>
            <a:pPr indent="0" marL="0">
              <a:buNone/>
            </a:pPr>
            <a:r>
              <a:rPr lang="en-US" sz="1600" dirty="0">
                <a:solidFill>
                  <a:srgbClr val="95D5B2"/>
                </a:solidFill>
                <a:latin typeface="Calibri" pitchFamily="34" charset="0"/>
                <a:ea typeface="Calibri" pitchFamily="34" charset="-122"/>
                <a:cs typeface="Calibri" pitchFamily="34" charset="-120"/>
              </a:rPr>
              <a:t>Data Analysis Report — Maize &amp; Sorghum Yield Assessment</a:t>
            </a:r>
            <a:endParaRPr lang="en-US" sz="1600" dirty="0"/>
          </a:p>
        </p:txBody>
      </p:sp>
      <p:sp>
        <p:nvSpPr>
          <p:cNvPr id="5" name="Shape 3"/>
          <p:cNvSpPr/>
          <p:nvPr/>
        </p:nvSpPr>
        <p:spPr>
          <a:xfrm>
            <a:off x="0" y="3383280"/>
            <a:ext cx="9144000" cy="36576"/>
          </a:xfrm>
          <a:prstGeom prst="rect">
            <a:avLst/>
          </a:prstGeom>
          <a:solidFill>
            <a:srgbClr val="F4A261"/>
          </a:solidFill>
          <a:ln w="12700">
            <a:solidFill>
              <a:srgbClr val="F4A261"/>
            </a:solidFill>
            <a:prstDash val="solid"/>
          </a:ln>
        </p:spPr>
      </p:sp>
      <p:sp>
        <p:nvSpPr>
          <p:cNvPr id="6" name="Text 4"/>
          <p:cNvSpPr/>
          <p:nvPr/>
        </p:nvSpPr>
        <p:spPr>
          <a:xfrm>
            <a:off x="548640" y="3520440"/>
            <a:ext cx="8229600" cy="365760"/>
          </a:xfrm>
          <a:prstGeom prst="rect">
            <a:avLst/>
          </a:prstGeom>
          <a:noFill/>
          <a:ln/>
        </p:spPr>
        <p:txBody>
          <a:bodyPr wrap="square" rtlCol="0" anchor="ctr"/>
          <a:lstStyle/>
          <a:p>
            <a:pPr indent="0" marL="0">
              <a:buNone/>
            </a:pPr>
            <a:r>
              <a:rPr lang="en-US" sz="1200" dirty="0">
                <a:solidFill>
                  <a:srgbClr val="95D5B2"/>
                </a:solidFill>
                <a:latin typeface="Calibri" pitchFamily="34" charset="0"/>
                <a:ea typeface="Calibri" pitchFamily="34" charset="-122"/>
                <a:cs typeface="Calibri" pitchFamily="34" charset="-120"/>
              </a:rPr>
              <a:t>Analyst: Veronica Mwihaki  |  Date: 16th February 2026  |  Python &amp; Tableau Analysis</a:t>
            </a:r>
            <a:endParaRPr lang="en-US" sz="1200" dirty="0"/>
          </a:p>
        </p:txBody>
      </p:sp>
      <p:sp>
        <p:nvSpPr>
          <p:cNvPr id="7" name="Text 5"/>
          <p:cNvSpPr/>
          <p:nvPr/>
        </p:nvSpPr>
        <p:spPr>
          <a:xfrm>
            <a:off x="7132320" y="914400"/>
            <a:ext cx="1828800" cy="18288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8" name="Shape 6"/>
          <p:cNvSpPr/>
          <p:nvPr/>
        </p:nvSpPr>
        <p:spPr>
          <a:xfrm>
            <a:off x="0" y="4663440"/>
            <a:ext cx="9144000" cy="480060"/>
          </a:xfrm>
          <a:prstGeom prst="rect">
            <a:avLst/>
          </a:prstGeom>
          <a:solidFill>
            <a:srgbClr val="2D6A4F"/>
          </a:solidFill>
          <a:ln w="12700">
            <a:solidFill>
              <a:srgbClr val="2D6A4F"/>
            </a:solidFill>
            <a:prstDash val="solid"/>
          </a:ln>
        </p:spPr>
      </p:sp>
      <p:sp>
        <p:nvSpPr>
          <p:cNvPr id="9" name="Text 7"/>
          <p:cNvSpPr/>
          <p:nvPr/>
        </p:nvSpPr>
        <p:spPr>
          <a:xfrm>
            <a:off x="457200" y="4727448"/>
            <a:ext cx="8229600" cy="347472"/>
          </a:xfrm>
          <a:prstGeom prst="rect">
            <a:avLst/>
          </a:prstGeom>
          <a:noFill/>
          <a:ln/>
        </p:spPr>
        <p:txBody>
          <a:bodyPr wrap="square" rtlCol="0" anchor="ctr"/>
          <a:lstStyle/>
          <a:p>
            <a:pPr algn="ctr" indent="0" marL="0">
              <a:buNone/>
            </a:pPr>
            <a:r>
              <a:rPr lang="en-US" sz="1200" dirty="0">
                <a:solidFill>
                  <a:srgbClr val="95D5B2"/>
                </a:solidFill>
                <a:latin typeface="Calibri" pitchFamily="34" charset="0"/>
                <a:ea typeface="Calibri" pitchFamily="34" charset="-122"/>
                <a:cs typeface="Calibri" pitchFamily="34" charset="-120"/>
              </a:rPr>
              <a:t>7 Districts  |  52 Sub-Counties  |  2 Staple Crops  |  GIS Spatial Analysis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w="12700">
            <a:solidFill>
              <a:srgbClr val="1B4332"/>
            </a:solidFill>
            <a:prstDash val="solid"/>
          </a:ln>
        </p:spPr>
      </p:sp>
      <p:sp>
        <p:nvSpPr>
          <p:cNvPr id="3" name="Text 1"/>
          <p:cNvSpPr/>
          <p:nvPr/>
        </p:nvSpPr>
        <p:spPr>
          <a:xfrm>
            <a:off x="365760" y="228600"/>
            <a:ext cx="8229600" cy="594360"/>
          </a:xfrm>
          <a:prstGeom prst="rect">
            <a:avLst/>
          </a:prstGeom>
          <a:noFill/>
          <a:ln/>
        </p:spPr>
        <p:txBody>
          <a:bodyPr wrap="square" rtlCol="0" anchor="ctr"/>
          <a:lstStyle/>
          <a:p>
            <a:pPr indent="0" marL="0">
              <a:buNone/>
            </a:pPr>
            <a:r>
              <a:rPr lang="en-US" sz="3200" b="1" dirty="0">
                <a:solidFill>
                  <a:srgbClr val="1B4332"/>
                </a:solidFill>
                <a:latin typeface="Georgia" pitchFamily="34" charset="0"/>
                <a:ea typeface="Georgia" pitchFamily="34" charset="-122"/>
                <a:cs typeface="Georgia" pitchFamily="34" charset="-120"/>
              </a:rPr>
              <a:t>Introduction</a:t>
            </a:r>
            <a:endParaRPr lang="en-US" sz="3200" dirty="0"/>
          </a:p>
        </p:txBody>
      </p:sp>
      <p:sp>
        <p:nvSpPr>
          <p:cNvPr id="4" name="Shape 2"/>
          <p:cNvSpPr/>
          <p:nvPr/>
        </p:nvSpPr>
        <p:spPr>
          <a:xfrm>
            <a:off x="365760" y="960120"/>
            <a:ext cx="8412480" cy="11887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48640" y="1024128"/>
            <a:ext cx="8046720" cy="1051560"/>
          </a:xfrm>
          <a:prstGeom prst="rect">
            <a:avLst/>
          </a:prstGeom>
          <a:noFill/>
          <a:ln/>
        </p:spPr>
        <p:txBody>
          <a:bodyPr wrap="square" rtlCol="0" anchor="ctr"/>
          <a:lstStyle/>
          <a:p>
            <a:pPr indent="0" marL="0">
              <a:buNone/>
            </a:pPr>
            <a:r>
              <a:rPr lang="en-US" sz="1250" dirty="0">
                <a:solidFill>
                  <a:srgbClr val="1B1B1B"/>
                </a:solidFill>
                <a:latin typeface="Calibri" pitchFamily="34" charset="0"/>
                <a:ea typeface="Calibri" pitchFamily="34" charset="-122"/>
                <a:cs typeface="Calibri" pitchFamily="34" charset="-120"/>
              </a:rPr>
              <a:t>Karamoja is one of the most food insecure regions in Uganda, facing several challenges such as low productivity levels of crops, intense droughts as well as pests and diseases. This leads to a significant reduction in productivity of crops. NGOs in this region don't have confirmed numbers or tools to know the state of food security, making it difficult to prioritize areas that need immediate intervention.</a:t>
            </a:r>
            <a:endParaRPr lang="en-US" sz="1250" dirty="0"/>
          </a:p>
        </p:txBody>
      </p:sp>
      <p:sp>
        <p:nvSpPr>
          <p:cNvPr id="6" name="Text 4"/>
          <p:cNvSpPr/>
          <p:nvPr/>
        </p:nvSpPr>
        <p:spPr>
          <a:xfrm>
            <a:off x="365760" y="2331720"/>
            <a:ext cx="8229600" cy="411480"/>
          </a:xfrm>
          <a:prstGeom prst="rect">
            <a:avLst/>
          </a:prstGeom>
          <a:noFill/>
          <a:ln/>
        </p:spPr>
        <p:txBody>
          <a:bodyPr wrap="square" rtlCol="0" anchor="ctr"/>
          <a:lstStyle/>
          <a:p>
            <a:pPr indent="0" marL="0">
              <a:buNone/>
            </a:pPr>
            <a:r>
              <a:rPr lang="en-US" sz="1800" b="1" dirty="0">
                <a:solidFill>
                  <a:srgbClr val="1B4332"/>
                </a:solidFill>
                <a:latin typeface="Georgia" pitchFamily="34" charset="0"/>
                <a:ea typeface="Georgia" pitchFamily="34" charset="-122"/>
                <a:cs typeface="Georgia" pitchFamily="34" charset="-120"/>
              </a:rPr>
              <a:t>Objective</a:t>
            </a:r>
            <a:endParaRPr lang="en-US" sz="1800" dirty="0"/>
          </a:p>
        </p:txBody>
      </p:sp>
      <p:sp>
        <p:nvSpPr>
          <p:cNvPr id="7" name="Shape 5"/>
          <p:cNvSpPr/>
          <p:nvPr/>
        </p:nvSpPr>
        <p:spPr>
          <a:xfrm>
            <a:off x="365760" y="2788920"/>
            <a:ext cx="8412480" cy="822960"/>
          </a:xfrm>
          <a:prstGeom prst="rect">
            <a:avLst/>
          </a:prstGeom>
          <a:solidFill>
            <a:srgbClr val="FFFFFF"/>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48640" y="2852928"/>
            <a:ext cx="8046720" cy="713232"/>
          </a:xfrm>
          <a:prstGeom prst="rect">
            <a:avLst/>
          </a:prstGeom>
          <a:noFill/>
          <a:ln/>
        </p:spPr>
        <p:txBody>
          <a:bodyPr wrap="square" rtlCol="0" anchor="ctr"/>
          <a:lstStyle/>
          <a:p>
            <a:pPr indent="0" marL="0">
              <a:buNone/>
            </a:pPr>
            <a:r>
              <a:rPr lang="en-US" sz="1250" dirty="0">
                <a:solidFill>
                  <a:srgbClr val="1B1B1B"/>
                </a:solidFill>
                <a:latin typeface="Calibri" pitchFamily="34" charset="0"/>
                <a:ea typeface="Calibri" pitchFamily="34" charset="-122"/>
                <a:cs typeface="Calibri" pitchFamily="34" charset="-120"/>
              </a:rPr>
              <a:t>The goal of this analysis is to create a food monitoring tool that visualizes sorghum and maize yield data across the Karamoja districts and sub-counties. This will help NGO decision making by identifying areas that are at a higher risk of having food shortages in order to intervene.</a:t>
            </a:r>
            <a:endParaRPr lang="en-US" sz="1250" dirty="0"/>
          </a:p>
        </p:txBody>
      </p:sp>
      <p:sp>
        <p:nvSpPr>
          <p:cNvPr id="9" name="Shape 7"/>
          <p:cNvSpPr/>
          <p:nvPr/>
        </p:nvSpPr>
        <p:spPr>
          <a:xfrm>
            <a:off x="365760" y="3749040"/>
            <a:ext cx="1920240" cy="1005840"/>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65760" y="3767328"/>
            <a:ext cx="1920240" cy="50292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7</a:t>
            </a:r>
            <a:endParaRPr lang="en-US" sz="2800" dirty="0"/>
          </a:p>
        </p:txBody>
      </p:sp>
      <p:sp>
        <p:nvSpPr>
          <p:cNvPr id="11" name="Text 9"/>
          <p:cNvSpPr/>
          <p:nvPr/>
        </p:nvSpPr>
        <p:spPr>
          <a:xfrm>
            <a:off x="365760" y="4251960"/>
            <a:ext cx="1920240" cy="43891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Districts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Analysed</a:t>
            </a:r>
            <a:endParaRPr lang="en-US" sz="1000" dirty="0"/>
          </a:p>
        </p:txBody>
      </p:sp>
      <p:sp>
        <p:nvSpPr>
          <p:cNvPr id="12" name="Shape 10"/>
          <p:cNvSpPr/>
          <p:nvPr/>
        </p:nvSpPr>
        <p:spPr>
          <a:xfrm>
            <a:off x="2468880" y="3749040"/>
            <a:ext cx="1920240" cy="1005840"/>
          </a:xfrm>
          <a:prstGeom prst="rect">
            <a:avLst/>
          </a:prstGeom>
          <a:solidFill>
            <a:srgbClr val="F4A261"/>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468880" y="3767328"/>
            <a:ext cx="1920240" cy="50292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52</a:t>
            </a:r>
            <a:endParaRPr lang="en-US" sz="2800" dirty="0"/>
          </a:p>
        </p:txBody>
      </p:sp>
      <p:sp>
        <p:nvSpPr>
          <p:cNvPr id="14" name="Text 12"/>
          <p:cNvSpPr/>
          <p:nvPr/>
        </p:nvSpPr>
        <p:spPr>
          <a:xfrm>
            <a:off x="2468880" y="4251960"/>
            <a:ext cx="1920240" cy="43891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Sub-Counties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Covered</a:t>
            </a:r>
            <a:endParaRPr lang="en-US" sz="1000" dirty="0"/>
          </a:p>
        </p:txBody>
      </p:sp>
      <p:sp>
        <p:nvSpPr>
          <p:cNvPr id="15" name="Shape 13"/>
          <p:cNvSpPr/>
          <p:nvPr/>
        </p:nvSpPr>
        <p:spPr>
          <a:xfrm>
            <a:off x="4572000" y="3749040"/>
            <a:ext cx="1920240" cy="1005840"/>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4572000" y="3767328"/>
            <a:ext cx="1920240" cy="50292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7" name="Text 15"/>
          <p:cNvSpPr/>
          <p:nvPr/>
        </p:nvSpPr>
        <p:spPr>
          <a:xfrm>
            <a:off x="4572000" y="4251960"/>
            <a:ext cx="1920240" cy="43891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Crops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Studied</a:t>
            </a:r>
            <a:endParaRPr lang="en-US" sz="1000" dirty="0"/>
          </a:p>
        </p:txBody>
      </p:sp>
      <p:sp>
        <p:nvSpPr>
          <p:cNvPr id="18" name="Shape 16"/>
          <p:cNvSpPr/>
          <p:nvPr/>
        </p:nvSpPr>
        <p:spPr>
          <a:xfrm>
            <a:off x="6675120" y="3749040"/>
            <a:ext cx="1920240" cy="1005840"/>
          </a:xfrm>
          <a:prstGeom prst="rect">
            <a:avLst/>
          </a:prstGeom>
          <a:solidFill>
            <a:srgbClr val="F4A261"/>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6675120" y="3767328"/>
            <a:ext cx="1920240" cy="50292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0</a:t>
            </a:r>
            <a:endParaRPr lang="en-US" sz="2800" dirty="0"/>
          </a:p>
        </p:txBody>
      </p:sp>
      <p:sp>
        <p:nvSpPr>
          <p:cNvPr id="20" name="Text 18"/>
          <p:cNvSpPr/>
          <p:nvPr/>
        </p:nvSpPr>
        <p:spPr>
          <a:xfrm>
            <a:off x="6675120" y="4251960"/>
            <a:ext cx="1920240" cy="43891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Missing</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Values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4332"/>
          </a:solidFill>
          <a:ln w="12700">
            <a:solidFill>
              <a:srgbClr val="1B4332"/>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Project Objectives</a:t>
            </a:r>
            <a:endParaRPr lang="en-US" sz="3000" dirty="0"/>
          </a:p>
        </p:txBody>
      </p:sp>
      <p:sp>
        <p:nvSpPr>
          <p:cNvPr id="4" name="Shape 2"/>
          <p:cNvSpPr/>
          <p:nvPr/>
        </p:nvSpPr>
        <p:spPr>
          <a:xfrm>
            <a:off x="274320" y="1097280"/>
            <a:ext cx="4114800" cy="1691640"/>
          </a:xfrm>
          <a:prstGeom prst="rect">
            <a:avLst/>
          </a:prstGeom>
          <a:solidFill>
            <a:srgbClr val="F0FDF4"/>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65760" y="1234440"/>
            <a:ext cx="594360" cy="5943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1005840" y="1207008"/>
            <a:ext cx="3246120" cy="411480"/>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Visualize Crop Yields</a:t>
            </a:r>
            <a:endParaRPr lang="en-US" sz="1300" dirty="0"/>
          </a:p>
        </p:txBody>
      </p:sp>
      <p:sp>
        <p:nvSpPr>
          <p:cNvPr id="7" name="Text 5"/>
          <p:cNvSpPr/>
          <p:nvPr/>
        </p:nvSpPr>
        <p:spPr>
          <a:xfrm>
            <a:off x="411480" y="1691640"/>
            <a:ext cx="3840480" cy="100584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Create bar charts comparing sorghum and maize yields across all 7 Karamoja districts to identify which areas produce the most and least food.</a:t>
            </a:r>
            <a:endParaRPr lang="en-US" sz="1150" dirty="0"/>
          </a:p>
        </p:txBody>
      </p:sp>
      <p:sp>
        <p:nvSpPr>
          <p:cNvPr id="8" name="Shape 6"/>
          <p:cNvSpPr/>
          <p:nvPr/>
        </p:nvSpPr>
        <p:spPr>
          <a:xfrm>
            <a:off x="4754880" y="1097280"/>
            <a:ext cx="4114800" cy="1691640"/>
          </a:xfrm>
          <a:prstGeom prst="rect">
            <a:avLst/>
          </a:prstGeom>
          <a:solidFill>
            <a:srgbClr val="F0FDF4"/>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4846320" y="1234440"/>
            <a:ext cx="594360" cy="5943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5486400" y="1207008"/>
            <a:ext cx="3246120" cy="411480"/>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GIS Spatial Mapping</a:t>
            </a:r>
            <a:endParaRPr lang="en-US" sz="1300" dirty="0"/>
          </a:p>
        </p:txBody>
      </p:sp>
      <p:sp>
        <p:nvSpPr>
          <p:cNvPr id="11" name="Text 9"/>
          <p:cNvSpPr/>
          <p:nvPr/>
        </p:nvSpPr>
        <p:spPr>
          <a:xfrm>
            <a:off x="4892040" y="1691640"/>
            <a:ext cx="3840480" cy="100584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Use Uganda district and sub-county shapefiles to map food insecurity geographically, showing which areas are most at risk.</a:t>
            </a:r>
            <a:endParaRPr lang="en-US" sz="1150" dirty="0"/>
          </a:p>
        </p:txBody>
      </p:sp>
      <p:sp>
        <p:nvSpPr>
          <p:cNvPr id="12" name="Shape 10"/>
          <p:cNvSpPr/>
          <p:nvPr/>
        </p:nvSpPr>
        <p:spPr>
          <a:xfrm>
            <a:off x="274320" y="3017520"/>
            <a:ext cx="4114800" cy="1691640"/>
          </a:xfrm>
          <a:prstGeom prst="rect">
            <a:avLst/>
          </a:prstGeom>
          <a:solidFill>
            <a:srgbClr val="FFFBEB"/>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65760" y="3154680"/>
            <a:ext cx="594360" cy="5943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1005840" y="3127248"/>
            <a:ext cx="3246120" cy="411480"/>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Analyze Area vs Production</a:t>
            </a:r>
            <a:endParaRPr lang="en-US" sz="1300" dirty="0"/>
          </a:p>
        </p:txBody>
      </p:sp>
      <p:sp>
        <p:nvSpPr>
          <p:cNvPr id="15" name="Text 13"/>
          <p:cNvSpPr/>
          <p:nvPr/>
        </p:nvSpPr>
        <p:spPr>
          <a:xfrm>
            <a:off x="411480" y="3611880"/>
            <a:ext cx="3840480" cy="100584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Use scatter plots to understand the relationship between land area planted and total crop production for both maize and sorghum.</a:t>
            </a:r>
            <a:endParaRPr lang="en-US" sz="1150" dirty="0"/>
          </a:p>
        </p:txBody>
      </p:sp>
      <p:sp>
        <p:nvSpPr>
          <p:cNvPr id="16" name="Shape 14"/>
          <p:cNvSpPr/>
          <p:nvPr/>
        </p:nvSpPr>
        <p:spPr>
          <a:xfrm>
            <a:off x="4754880" y="3017520"/>
            <a:ext cx="4114800" cy="1691640"/>
          </a:xfrm>
          <a:prstGeom prst="rect">
            <a:avLst/>
          </a:prstGeom>
          <a:solidFill>
            <a:srgbClr val="FFFBEB"/>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846320" y="3154680"/>
            <a:ext cx="594360" cy="5943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5486400" y="3127248"/>
            <a:ext cx="3246120" cy="411480"/>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Support NGO Decisions</a:t>
            </a:r>
            <a:endParaRPr lang="en-US" sz="1300" dirty="0"/>
          </a:p>
        </p:txBody>
      </p:sp>
      <p:sp>
        <p:nvSpPr>
          <p:cNvPr id="19" name="Text 17"/>
          <p:cNvSpPr/>
          <p:nvPr/>
        </p:nvSpPr>
        <p:spPr>
          <a:xfrm>
            <a:off x="4892040" y="3611880"/>
            <a:ext cx="3840480" cy="100584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Provide data-driven insights to help NGOs prioritize districts for food aid, agricultural support, and intervention programs.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261"/>
          </a:solidFill>
          <a:ln w="12700">
            <a:solidFill>
              <a:srgbClr val="F4A261"/>
            </a:solidFill>
            <a:prstDash val="solid"/>
          </a:ln>
        </p:spPr>
      </p:sp>
      <p:sp>
        <p:nvSpPr>
          <p:cNvPr id="3" name="Text 1"/>
          <p:cNvSpPr/>
          <p:nvPr/>
        </p:nvSpPr>
        <p:spPr>
          <a:xfrm>
            <a:off x="365760" y="182880"/>
            <a:ext cx="8229600" cy="594360"/>
          </a:xfrm>
          <a:prstGeom prst="rect">
            <a:avLst/>
          </a:prstGeom>
          <a:noFill/>
          <a:ln/>
        </p:spPr>
        <p:txBody>
          <a:bodyPr wrap="square"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Data &amp; Methodology</a:t>
            </a:r>
            <a:endParaRPr lang="en-US" sz="3000" dirty="0"/>
          </a:p>
        </p:txBody>
      </p:sp>
      <p:sp>
        <p:nvSpPr>
          <p:cNvPr id="4" name="Shape 2"/>
          <p:cNvSpPr/>
          <p:nvPr/>
        </p:nvSpPr>
        <p:spPr>
          <a:xfrm>
            <a:off x="365760" y="914400"/>
            <a:ext cx="3931920" cy="384048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914400"/>
            <a:ext cx="3931920" cy="438912"/>
          </a:xfrm>
          <a:prstGeom prst="rect">
            <a:avLst/>
          </a:prstGeom>
          <a:solidFill>
            <a:srgbClr val="1B4332"/>
          </a:solidFill>
          <a:ln w="12700">
            <a:solidFill>
              <a:srgbClr val="1B4332"/>
            </a:solidFill>
            <a:prstDash val="solid"/>
          </a:ln>
        </p:spPr>
      </p:sp>
      <p:sp>
        <p:nvSpPr>
          <p:cNvPr id="6" name="Text 4"/>
          <p:cNvSpPr/>
          <p:nvPr/>
        </p:nvSpPr>
        <p:spPr>
          <a:xfrm>
            <a:off x="457200" y="932688"/>
            <a:ext cx="37490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Datasets Used</a:t>
            </a:r>
            <a:endParaRPr lang="en-US" sz="1300" dirty="0"/>
          </a:p>
        </p:txBody>
      </p:sp>
      <p:sp>
        <p:nvSpPr>
          <p:cNvPr id="7" name="Text 5"/>
          <p:cNvSpPr/>
          <p:nvPr/>
        </p:nvSpPr>
        <p:spPr>
          <a:xfrm>
            <a:off x="502920" y="1444752"/>
            <a:ext cx="3657600" cy="347472"/>
          </a:xfrm>
          <a:prstGeom prst="rect">
            <a:avLst/>
          </a:prstGeom>
          <a:noFill/>
          <a:ln/>
        </p:spPr>
        <p:txBody>
          <a:bodyPr wrap="square" rtlCol="0" anchor="ctr"/>
          <a:lstStyle/>
          <a:p>
            <a:pPr indent="0" marL="0">
              <a:buNone/>
            </a:pPr>
            <a:r>
              <a:rPr lang="en-US" sz="1150" b="1" dirty="0">
                <a:solidFill>
                  <a:srgbClr val="1B1B1B"/>
                </a:solidFill>
                <a:latin typeface="Calibri" pitchFamily="34" charset="0"/>
                <a:ea typeface="Calibri" pitchFamily="34" charset="-122"/>
                <a:cs typeface="Calibri" pitchFamily="34" charset="-120"/>
              </a:rPr>
              <a:t>✓  District Data (7 rows, 11 cols)</a:t>
            </a:r>
            <a:endParaRPr lang="en-US" sz="1150" dirty="0"/>
          </a:p>
        </p:txBody>
      </p:sp>
      <p:sp>
        <p:nvSpPr>
          <p:cNvPr id="8" name="Text 6"/>
          <p:cNvSpPr/>
          <p:nvPr/>
        </p:nvSpPr>
        <p:spPr>
          <a:xfrm>
            <a:off x="502920" y="1965960"/>
            <a:ext cx="3657600" cy="347472"/>
          </a:xfrm>
          <a:prstGeom prst="rect">
            <a:avLst/>
          </a:prstGeom>
          <a:noFill/>
          <a:ln/>
        </p:spPr>
        <p:txBody>
          <a:bodyPr wrap="square" rtlCol="0" anchor="ctr"/>
          <a:lstStyle/>
          <a:p>
            <a:pPr indent="0" marL="0">
              <a:buNone/>
            </a:pPr>
            <a:r>
              <a:rPr lang="en-US" sz="1150" b="1" dirty="0">
                <a:solidFill>
                  <a:srgbClr val="1B1B1B"/>
                </a:solidFill>
                <a:latin typeface="Calibri" pitchFamily="34" charset="0"/>
                <a:ea typeface="Calibri" pitchFamily="34" charset="-122"/>
                <a:cs typeface="Calibri" pitchFamily="34" charset="-120"/>
              </a:rPr>
              <a:t>✓  Sub-County Data (52 rows, 13 cols)</a:t>
            </a:r>
            <a:endParaRPr lang="en-US" sz="1150" dirty="0"/>
          </a:p>
        </p:txBody>
      </p:sp>
      <p:sp>
        <p:nvSpPr>
          <p:cNvPr id="9" name="Text 7"/>
          <p:cNvSpPr/>
          <p:nvPr/>
        </p:nvSpPr>
        <p:spPr>
          <a:xfrm>
            <a:off x="502920" y="2487168"/>
            <a:ext cx="3657600" cy="347472"/>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  Uganda Districts Shapefile</a:t>
            </a:r>
            <a:endParaRPr lang="en-US" sz="1150" dirty="0"/>
          </a:p>
        </p:txBody>
      </p:sp>
      <p:sp>
        <p:nvSpPr>
          <p:cNvPr id="10" name="Text 8"/>
          <p:cNvSpPr/>
          <p:nvPr/>
        </p:nvSpPr>
        <p:spPr>
          <a:xfrm>
            <a:off x="502920" y="3008376"/>
            <a:ext cx="3657600" cy="347472"/>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  Uganda Sub-Counties Shapefile</a:t>
            </a:r>
            <a:endParaRPr lang="en-US" sz="1150" dirty="0"/>
          </a:p>
        </p:txBody>
      </p:sp>
      <p:sp>
        <p:nvSpPr>
          <p:cNvPr id="11" name="Text 9"/>
          <p:cNvSpPr/>
          <p:nvPr/>
        </p:nvSpPr>
        <p:spPr>
          <a:xfrm>
            <a:off x="502920" y="3529584"/>
            <a:ext cx="3657600" cy="347472"/>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  Crop Type Map — Maize</a:t>
            </a:r>
            <a:endParaRPr lang="en-US" sz="1150" dirty="0"/>
          </a:p>
        </p:txBody>
      </p:sp>
      <p:sp>
        <p:nvSpPr>
          <p:cNvPr id="12" name="Text 10"/>
          <p:cNvSpPr/>
          <p:nvPr/>
        </p:nvSpPr>
        <p:spPr>
          <a:xfrm>
            <a:off x="502920" y="4050792"/>
            <a:ext cx="3657600" cy="347472"/>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  Crop Type Map — Sorghum</a:t>
            </a:r>
            <a:endParaRPr lang="en-US" sz="1150" dirty="0"/>
          </a:p>
        </p:txBody>
      </p:sp>
      <p:sp>
        <p:nvSpPr>
          <p:cNvPr id="13" name="Shape 11"/>
          <p:cNvSpPr/>
          <p:nvPr/>
        </p:nvSpPr>
        <p:spPr>
          <a:xfrm>
            <a:off x="4572000" y="914400"/>
            <a:ext cx="4206240" cy="3840480"/>
          </a:xfrm>
          <a:prstGeom prst="rect">
            <a:avLst/>
          </a:prstGeom>
          <a:solidFill>
            <a:srgbClr val="FFFFFF"/>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572000" y="914400"/>
            <a:ext cx="4206240" cy="438912"/>
          </a:xfrm>
          <a:prstGeom prst="rect">
            <a:avLst/>
          </a:prstGeom>
          <a:solidFill>
            <a:srgbClr val="F4A261"/>
          </a:solidFill>
          <a:ln w="12700">
            <a:solidFill>
              <a:srgbClr val="F4A261"/>
            </a:solidFill>
            <a:prstDash val="solid"/>
          </a:ln>
        </p:spPr>
      </p:sp>
      <p:sp>
        <p:nvSpPr>
          <p:cNvPr id="15" name="Text 13"/>
          <p:cNvSpPr/>
          <p:nvPr/>
        </p:nvSpPr>
        <p:spPr>
          <a:xfrm>
            <a:off x="4663440" y="932688"/>
            <a:ext cx="402336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Analysis Steps</a:t>
            </a:r>
            <a:endParaRPr lang="en-US" sz="1300" dirty="0"/>
          </a:p>
        </p:txBody>
      </p:sp>
      <p:sp>
        <p:nvSpPr>
          <p:cNvPr id="16" name="Text 14"/>
          <p:cNvSpPr/>
          <p:nvPr/>
        </p:nvSpPr>
        <p:spPr>
          <a:xfrm>
            <a:off x="4709160" y="144475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1. Import Libraries</a:t>
            </a:r>
            <a:endParaRPr lang="en-US" sz="1150" dirty="0"/>
          </a:p>
        </p:txBody>
      </p:sp>
      <p:sp>
        <p:nvSpPr>
          <p:cNvPr id="17" name="Text 15"/>
          <p:cNvSpPr/>
          <p:nvPr/>
        </p:nvSpPr>
        <p:spPr>
          <a:xfrm>
            <a:off x="4709160" y="169164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pandas, numpy, geopandas, matplotlib, plotly, folium</a:t>
            </a:r>
            <a:endParaRPr lang="en-US" sz="1000" dirty="0"/>
          </a:p>
        </p:txBody>
      </p:sp>
      <p:sp>
        <p:nvSpPr>
          <p:cNvPr id="18" name="Text 16"/>
          <p:cNvSpPr/>
          <p:nvPr/>
        </p:nvSpPr>
        <p:spPr>
          <a:xfrm>
            <a:off x="4709160" y="199339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2. Load Data</a:t>
            </a:r>
            <a:endParaRPr lang="en-US" sz="1150" dirty="0"/>
          </a:p>
        </p:txBody>
      </p:sp>
      <p:sp>
        <p:nvSpPr>
          <p:cNvPr id="19" name="Text 17"/>
          <p:cNvSpPr/>
          <p:nvPr/>
        </p:nvSpPr>
        <p:spPr>
          <a:xfrm>
            <a:off x="4709160" y="224028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Read CSV files, inspect structure with .head()</a:t>
            </a:r>
            <a:endParaRPr lang="en-US" sz="1000" dirty="0"/>
          </a:p>
        </p:txBody>
      </p:sp>
      <p:sp>
        <p:nvSpPr>
          <p:cNvPr id="20" name="Text 18"/>
          <p:cNvSpPr/>
          <p:nvPr/>
        </p:nvSpPr>
        <p:spPr>
          <a:xfrm>
            <a:off x="4709160" y="254203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3. Check Missing Values</a:t>
            </a:r>
            <a:endParaRPr lang="en-US" sz="1150" dirty="0"/>
          </a:p>
        </p:txBody>
      </p:sp>
      <p:sp>
        <p:nvSpPr>
          <p:cNvPr id="21" name="Text 19"/>
          <p:cNvSpPr/>
          <p:nvPr/>
        </p:nvSpPr>
        <p:spPr>
          <a:xfrm>
            <a:off x="4709160" y="278892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isnull().sum() — Result: 0 missing values ✓</a:t>
            </a:r>
            <a:endParaRPr lang="en-US" sz="1000" dirty="0"/>
          </a:p>
        </p:txBody>
      </p:sp>
      <p:sp>
        <p:nvSpPr>
          <p:cNvPr id="22" name="Text 20"/>
          <p:cNvSpPr/>
          <p:nvPr/>
        </p:nvSpPr>
        <p:spPr>
          <a:xfrm>
            <a:off x="4709160" y="309067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4. Fill &amp; Rename Columns</a:t>
            </a:r>
            <a:endParaRPr lang="en-US" sz="1150" dirty="0"/>
          </a:p>
        </p:txBody>
      </p:sp>
      <p:sp>
        <p:nvSpPr>
          <p:cNvPr id="23" name="Text 21"/>
          <p:cNvSpPr/>
          <p:nvPr/>
        </p:nvSpPr>
        <p:spPr>
          <a:xfrm>
            <a:off x="4709160" y="333756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fillna(0), renamed for clarity (S_Yield_Ha → Sorghum_Yield_KgHa)</a:t>
            </a:r>
            <a:endParaRPr lang="en-US" sz="1000" dirty="0"/>
          </a:p>
        </p:txBody>
      </p:sp>
      <p:sp>
        <p:nvSpPr>
          <p:cNvPr id="24" name="Text 22"/>
          <p:cNvSpPr/>
          <p:nvPr/>
        </p:nvSpPr>
        <p:spPr>
          <a:xfrm>
            <a:off x="4709160" y="363931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5. Summary Statistics</a:t>
            </a:r>
            <a:endParaRPr lang="en-US" sz="1150" dirty="0"/>
          </a:p>
        </p:txBody>
      </p:sp>
      <p:sp>
        <p:nvSpPr>
          <p:cNvPr id="25" name="Text 23"/>
          <p:cNvSpPr/>
          <p:nvPr/>
        </p:nvSpPr>
        <p:spPr>
          <a:xfrm>
            <a:off x="4709160" y="388620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describe() for districts and sub-counties</a:t>
            </a:r>
            <a:endParaRPr lang="en-US" sz="1000" dirty="0"/>
          </a:p>
        </p:txBody>
      </p:sp>
      <p:sp>
        <p:nvSpPr>
          <p:cNvPr id="26" name="Text 24"/>
          <p:cNvSpPr/>
          <p:nvPr/>
        </p:nvSpPr>
        <p:spPr>
          <a:xfrm>
            <a:off x="4709160" y="4187952"/>
            <a:ext cx="3931920" cy="256032"/>
          </a:xfrm>
          <a:prstGeom prst="rect">
            <a:avLst/>
          </a:prstGeom>
          <a:noFill/>
          <a:ln/>
        </p:spPr>
        <p:txBody>
          <a:bodyPr wrap="square"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6. Visualizations</a:t>
            </a:r>
            <a:endParaRPr lang="en-US" sz="1150" dirty="0"/>
          </a:p>
        </p:txBody>
      </p:sp>
      <p:sp>
        <p:nvSpPr>
          <p:cNvPr id="27" name="Text 25"/>
          <p:cNvSpPr/>
          <p:nvPr/>
        </p:nvSpPr>
        <p:spPr>
          <a:xfrm>
            <a:off x="4709160" y="4434840"/>
            <a:ext cx="3931920" cy="22860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Bar charts, scatter plots, box plots, maps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D6A4F"/>
          </a:solidFill>
          <a:ln w="12700">
            <a:solidFill>
              <a:srgbClr val="2D6A4F"/>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Key Findings from the Data</a:t>
            </a:r>
            <a:endParaRPr lang="en-US" sz="3000" dirty="0"/>
          </a:p>
        </p:txBody>
      </p:sp>
      <p:sp>
        <p:nvSpPr>
          <p:cNvPr id="4" name="Shape 2"/>
          <p:cNvSpPr/>
          <p:nvPr/>
        </p:nvSpPr>
        <p:spPr>
          <a:xfrm>
            <a:off x="182880" y="1051560"/>
            <a:ext cx="2057400" cy="1691640"/>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182880" y="1097280"/>
            <a:ext cx="2057400" cy="64008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449</a:t>
            </a:r>
            <a:endParaRPr lang="en-US" sz="2800" dirty="0"/>
          </a:p>
        </p:txBody>
      </p:sp>
      <p:sp>
        <p:nvSpPr>
          <p:cNvPr id="6" name="Text 4"/>
          <p:cNvSpPr/>
          <p:nvPr/>
        </p:nvSpPr>
        <p:spPr>
          <a:xfrm>
            <a:off x="182880" y="1719072"/>
            <a:ext cx="2057400" cy="502920"/>
          </a:xfrm>
          <a:prstGeom prst="rect">
            <a:avLst/>
          </a:prstGeom>
          <a:noFill/>
          <a:ln/>
        </p:spPr>
        <p:txBody>
          <a:bodyPr wrap="square" rtlCol="0" anchor="ctr"/>
          <a:lstStyle/>
          <a:p>
            <a:pPr algn="ctr" indent="0" marL="0">
              <a:buNone/>
            </a:pPr>
            <a:r>
              <a:rPr lang="en-US" sz="1000" dirty="0">
                <a:solidFill>
                  <a:srgbClr val="DDDDDD"/>
                </a:solidFill>
                <a:latin typeface="Calibri" pitchFamily="34" charset="0"/>
                <a:ea typeface="Calibri" pitchFamily="34" charset="-122"/>
                <a:cs typeface="Calibri" pitchFamily="34" charset="-120"/>
              </a:rPr>
              <a:t>Highest Sorghum</a:t>
            </a:r>
            <a:endParaRPr lang="en-US" sz="1000" dirty="0"/>
          </a:p>
          <a:p>
            <a:pPr algn="ctr" indent="0" marL="0">
              <a:buNone/>
            </a:pPr>
            <a:r>
              <a:rPr lang="en-US" sz="1000" dirty="0">
                <a:solidFill>
                  <a:srgbClr val="DDDDDD"/>
                </a:solidFill>
                <a:latin typeface="Calibri" pitchFamily="34" charset="0"/>
                <a:ea typeface="Calibri" pitchFamily="34" charset="-122"/>
                <a:cs typeface="Calibri" pitchFamily="34" charset="-120"/>
              </a:rPr>
              <a:t>Yield KgHa</a:t>
            </a:r>
            <a:endParaRPr lang="en-US" sz="1000" dirty="0"/>
          </a:p>
        </p:txBody>
      </p:sp>
      <p:sp>
        <p:nvSpPr>
          <p:cNvPr id="7" name="Text 5"/>
          <p:cNvSpPr/>
          <p:nvPr/>
        </p:nvSpPr>
        <p:spPr>
          <a:xfrm>
            <a:off x="182880" y="2212848"/>
            <a:ext cx="2057400" cy="365760"/>
          </a:xfrm>
          <a:prstGeom prst="rect">
            <a:avLst/>
          </a:prstGeom>
          <a:noFill/>
          <a:ln/>
        </p:spPr>
        <p:txBody>
          <a:bodyPr wrap="square" rtlCol="0" anchor="ctr"/>
          <a:lstStyle/>
          <a:p>
            <a:pPr algn="ctr" indent="0" marL="0">
              <a:buNone/>
            </a:pPr>
            <a:r>
              <a:rPr lang="en-US" sz="1000" b="1" dirty="0">
                <a:solidFill>
                  <a:srgbClr val="95D5B2"/>
                </a:solidFill>
              </a:rPr>
              <a:t>ABIM District</a:t>
            </a:r>
            <a:endParaRPr lang="en-US" sz="1000" dirty="0"/>
          </a:p>
        </p:txBody>
      </p:sp>
      <p:sp>
        <p:nvSpPr>
          <p:cNvPr id="8" name="Shape 6"/>
          <p:cNvSpPr/>
          <p:nvPr/>
        </p:nvSpPr>
        <p:spPr>
          <a:xfrm>
            <a:off x="2377440" y="1051560"/>
            <a:ext cx="2057400" cy="169164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377440" y="1097280"/>
            <a:ext cx="2057400" cy="64008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128</a:t>
            </a:r>
            <a:endParaRPr lang="en-US" sz="2800" dirty="0"/>
          </a:p>
        </p:txBody>
      </p:sp>
      <p:sp>
        <p:nvSpPr>
          <p:cNvPr id="10" name="Text 8"/>
          <p:cNvSpPr/>
          <p:nvPr/>
        </p:nvSpPr>
        <p:spPr>
          <a:xfrm>
            <a:off x="2377440" y="1719072"/>
            <a:ext cx="2057400" cy="502920"/>
          </a:xfrm>
          <a:prstGeom prst="rect">
            <a:avLst/>
          </a:prstGeom>
          <a:noFill/>
          <a:ln/>
        </p:spPr>
        <p:txBody>
          <a:bodyPr wrap="square" rtlCol="0" anchor="ctr"/>
          <a:lstStyle/>
          <a:p>
            <a:pPr algn="ctr" indent="0" marL="0">
              <a:buNone/>
            </a:pPr>
            <a:r>
              <a:rPr lang="en-US" sz="1000" dirty="0">
                <a:solidFill>
                  <a:srgbClr val="DDDDDD"/>
                </a:solidFill>
                <a:latin typeface="Calibri" pitchFamily="34" charset="0"/>
                <a:ea typeface="Calibri" pitchFamily="34" charset="-122"/>
                <a:cs typeface="Calibri" pitchFamily="34" charset="-120"/>
              </a:rPr>
              <a:t>Lowest Sorghum</a:t>
            </a:r>
            <a:endParaRPr lang="en-US" sz="1000" dirty="0"/>
          </a:p>
          <a:p>
            <a:pPr algn="ctr" indent="0" marL="0">
              <a:buNone/>
            </a:pPr>
            <a:r>
              <a:rPr lang="en-US" sz="1000" dirty="0">
                <a:solidFill>
                  <a:srgbClr val="DDDDDD"/>
                </a:solidFill>
                <a:latin typeface="Calibri" pitchFamily="34" charset="0"/>
                <a:ea typeface="Calibri" pitchFamily="34" charset="-122"/>
                <a:cs typeface="Calibri" pitchFamily="34" charset="-120"/>
              </a:rPr>
              <a:t>Yield KgHa</a:t>
            </a:r>
            <a:endParaRPr lang="en-US" sz="1000" dirty="0"/>
          </a:p>
        </p:txBody>
      </p:sp>
      <p:sp>
        <p:nvSpPr>
          <p:cNvPr id="11" name="Text 9"/>
          <p:cNvSpPr/>
          <p:nvPr/>
        </p:nvSpPr>
        <p:spPr>
          <a:xfrm>
            <a:off x="2377440" y="2212848"/>
            <a:ext cx="2057400" cy="365760"/>
          </a:xfrm>
          <a:prstGeom prst="rect">
            <a:avLst/>
          </a:prstGeom>
          <a:noFill/>
          <a:ln/>
        </p:spPr>
        <p:txBody>
          <a:bodyPr wrap="square" rtlCol="0" anchor="ctr"/>
          <a:lstStyle/>
          <a:p>
            <a:pPr algn="ctr" indent="0" marL="0">
              <a:buNone/>
            </a:pPr>
            <a:r>
              <a:rPr lang="en-US" sz="1000" b="1" dirty="0">
                <a:solidFill>
                  <a:srgbClr val="95D5B2"/>
                </a:solidFill>
              </a:rPr>
              <a:t>MOROTO District</a:t>
            </a:r>
            <a:endParaRPr lang="en-US" sz="1000" dirty="0"/>
          </a:p>
        </p:txBody>
      </p:sp>
      <p:sp>
        <p:nvSpPr>
          <p:cNvPr id="12" name="Shape 10"/>
          <p:cNvSpPr/>
          <p:nvPr/>
        </p:nvSpPr>
        <p:spPr>
          <a:xfrm>
            <a:off x="4572000" y="1051560"/>
            <a:ext cx="2057400" cy="1691640"/>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572000" y="1097280"/>
            <a:ext cx="2057400" cy="64008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1,297</a:t>
            </a:r>
            <a:endParaRPr lang="en-US" sz="2800" dirty="0"/>
          </a:p>
        </p:txBody>
      </p:sp>
      <p:sp>
        <p:nvSpPr>
          <p:cNvPr id="14" name="Text 12"/>
          <p:cNvSpPr/>
          <p:nvPr/>
        </p:nvSpPr>
        <p:spPr>
          <a:xfrm>
            <a:off x="4572000" y="1719072"/>
            <a:ext cx="2057400" cy="502920"/>
          </a:xfrm>
          <a:prstGeom prst="rect">
            <a:avLst/>
          </a:prstGeom>
          <a:noFill/>
          <a:ln/>
        </p:spPr>
        <p:txBody>
          <a:bodyPr wrap="square" rtlCol="0" anchor="ctr"/>
          <a:lstStyle/>
          <a:p>
            <a:pPr algn="ctr" indent="0" marL="0">
              <a:buNone/>
            </a:pPr>
            <a:r>
              <a:rPr lang="en-US" sz="1000" dirty="0">
                <a:solidFill>
                  <a:srgbClr val="DDDDDD"/>
                </a:solidFill>
                <a:latin typeface="Calibri" pitchFamily="34" charset="0"/>
                <a:ea typeface="Calibri" pitchFamily="34" charset="-122"/>
                <a:cs typeface="Calibri" pitchFamily="34" charset="-120"/>
              </a:rPr>
              <a:t>Highest Maize</a:t>
            </a:r>
            <a:endParaRPr lang="en-US" sz="1000" dirty="0"/>
          </a:p>
          <a:p>
            <a:pPr algn="ctr" indent="0" marL="0">
              <a:buNone/>
            </a:pPr>
            <a:r>
              <a:rPr lang="en-US" sz="1000" dirty="0">
                <a:solidFill>
                  <a:srgbClr val="DDDDDD"/>
                </a:solidFill>
                <a:latin typeface="Calibri" pitchFamily="34" charset="0"/>
                <a:ea typeface="Calibri" pitchFamily="34" charset="-122"/>
                <a:cs typeface="Calibri" pitchFamily="34" charset="-120"/>
              </a:rPr>
              <a:t>Yield KgHa</a:t>
            </a:r>
            <a:endParaRPr lang="en-US" sz="1000" dirty="0"/>
          </a:p>
        </p:txBody>
      </p:sp>
      <p:sp>
        <p:nvSpPr>
          <p:cNvPr id="15" name="Text 13"/>
          <p:cNvSpPr/>
          <p:nvPr/>
        </p:nvSpPr>
        <p:spPr>
          <a:xfrm>
            <a:off x="4572000" y="2212848"/>
            <a:ext cx="2057400" cy="365760"/>
          </a:xfrm>
          <a:prstGeom prst="rect">
            <a:avLst/>
          </a:prstGeom>
          <a:noFill/>
          <a:ln/>
        </p:spPr>
        <p:txBody>
          <a:bodyPr wrap="square" rtlCol="0" anchor="ctr"/>
          <a:lstStyle/>
          <a:p>
            <a:pPr algn="ctr" indent="0" marL="0">
              <a:buNone/>
            </a:pPr>
            <a:r>
              <a:rPr lang="en-US" sz="1000" b="1" dirty="0">
                <a:solidFill>
                  <a:srgbClr val="95D5B2"/>
                </a:solidFill>
              </a:rPr>
              <a:t>AMUDAT District</a:t>
            </a:r>
            <a:endParaRPr lang="en-US" sz="1000" dirty="0"/>
          </a:p>
        </p:txBody>
      </p:sp>
      <p:sp>
        <p:nvSpPr>
          <p:cNvPr id="16" name="Shape 14"/>
          <p:cNvSpPr/>
          <p:nvPr/>
        </p:nvSpPr>
        <p:spPr>
          <a:xfrm>
            <a:off x="6766560" y="1051560"/>
            <a:ext cx="2057400" cy="169164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766560" y="1097280"/>
            <a:ext cx="2057400" cy="64008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355</a:t>
            </a:r>
            <a:endParaRPr lang="en-US" sz="2800" dirty="0"/>
          </a:p>
        </p:txBody>
      </p:sp>
      <p:sp>
        <p:nvSpPr>
          <p:cNvPr id="18" name="Text 16"/>
          <p:cNvSpPr/>
          <p:nvPr/>
        </p:nvSpPr>
        <p:spPr>
          <a:xfrm>
            <a:off x="6766560" y="1719072"/>
            <a:ext cx="2057400" cy="502920"/>
          </a:xfrm>
          <a:prstGeom prst="rect">
            <a:avLst/>
          </a:prstGeom>
          <a:noFill/>
          <a:ln/>
        </p:spPr>
        <p:txBody>
          <a:bodyPr wrap="square" rtlCol="0" anchor="ctr"/>
          <a:lstStyle/>
          <a:p>
            <a:pPr algn="ctr" indent="0" marL="0">
              <a:buNone/>
            </a:pPr>
            <a:r>
              <a:rPr lang="en-US" sz="1000" dirty="0">
                <a:solidFill>
                  <a:srgbClr val="DDDDDD"/>
                </a:solidFill>
                <a:latin typeface="Calibri" pitchFamily="34" charset="0"/>
                <a:ea typeface="Calibri" pitchFamily="34" charset="-122"/>
                <a:cs typeface="Calibri" pitchFamily="34" charset="-120"/>
              </a:rPr>
              <a:t>Lowest Maize</a:t>
            </a:r>
            <a:endParaRPr lang="en-US" sz="1000" dirty="0"/>
          </a:p>
          <a:p>
            <a:pPr algn="ctr" indent="0" marL="0">
              <a:buNone/>
            </a:pPr>
            <a:r>
              <a:rPr lang="en-US" sz="1000" dirty="0">
                <a:solidFill>
                  <a:srgbClr val="DDDDDD"/>
                </a:solidFill>
                <a:latin typeface="Calibri" pitchFamily="34" charset="0"/>
                <a:ea typeface="Calibri" pitchFamily="34" charset="-122"/>
                <a:cs typeface="Calibri" pitchFamily="34" charset="-120"/>
              </a:rPr>
              <a:t>Yield KgHa</a:t>
            </a:r>
            <a:endParaRPr lang="en-US" sz="1000" dirty="0"/>
          </a:p>
        </p:txBody>
      </p:sp>
      <p:sp>
        <p:nvSpPr>
          <p:cNvPr id="19" name="Text 17"/>
          <p:cNvSpPr/>
          <p:nvPr/>
        </p:nvSpPr>
        <p:spPr>
          <a:xfrm>
            <a:off x="6766560" y="2212848"/>
            <a:ext cx="2057400" cy="365760"/>
          </a:xfrm>
          <a:prstGeom prst="rect">
            <a:avLst/>
          </a:prstGeom>
          <a:noFill/>
          <a:ln/>
        </p:spPr>
        <p:txBody>
          <a:bodyPr wrap="square" rtlCol="0" anchor="ctr"/>
          <a:lstStyle/>
          <a:p>
            <a:pPr algn="ctr" indent="0" marL="0">
              <a:buNone/>
            </a:pPr>
            <a:r>
              <a:rPr lang="en-US" sz="1000" b="1" dirty="0">
                <a:solidFill>
                  <a:srgbClr val="95D5B2"/>
                </a:solidFill>
              </a:rPr>
              <a:t>MOROTO District</a:t>
            </a:r>
            <a:endParaRPr lang="en-US" sz="1000" dirty="0"/>
          </a:p>
        </p:txBody>
      </p:sp>
      <p:sp>
        <p:nvSpPr>
          <p:cNvPr id="20" name="Shape 18"/>
          <p:cNvSpPr/>
          <p:nvPr/>
        </p:nvSpPr>
        <p:spPr>
          <a:xfrm>
            <a:off x="182880" y="2834640"/>
            <a:ext cx="4297680" cy="640080"/>
          </a:xfrm>
          <a:prstGeom prst="rect">
            <a:avLst/>
          </a:prstGeom>
          <a:solidFill>
            <a:srgbClr val="E76F00"/>
          </a:solidFill>
          <a:ln w="12700">
            <a:solidFill>
              <a:srgbClr val="E76F00"/>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320040" y="2880360"/>
            <a:ext cx="4023360" cy="5486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Average Sorghum Yield across all districts: 269.29 KgHa</a:t>
            </a:r>
            <a:endParaRPr lang="en-US" sz="1200" dirty="0"/>
          </a:p>
        </p:txBody>
      </p:sp>
      <p:sp>
        <p:nvSpPr>
          <p:cNvPr id="22" name="Shape 20"/>
          <p:cNvSpPr/>
          <p:nvPr/>
        </p:nvSpPr>
        <p:spPr>
          <a:xfrm>
            <a:off x="4663440" y="2834640"/>
            <a:ext cx="4297680" cy="640080"/>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4800600" y="2880360"/>
            <a:ext cx="4023360" cy="5486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Average Maize Yield across all districts: 986.14 KgHa</a:t>
            </a:r>
            <a:endParaRPr lang="en-US" sz="1200" dirty="0"/>
          </a:p>
        </p:txBody>
      </p:sp>
      <p:sp>
        <p:nvSpPr>
          <p:cNvPr id="24" name="Shape 22"/>
          <p:cNvSpPr/>
          <p:nvPr/>
        </p:nvSpPr>
        <p:spPr>
          <a:xfrm>
            <a:off x="182880" y="3630168"/>
            <a:ext cx="256032" cy="256032"/>
          </a:xfrm>
          <a:prstGeom prst="ellipse">
            <a:avLst/>
          </a:prstGeom>
          <a:solidFill>
            <a:srgbClr val="F4A261"/>
          </a:solidFill>
          <a:ln w="12700">
            <a:solidFill>
              <a:srgbClr val="F4A261"/>
            </a:solidFill>
            <a:prstDash val="solid"/>
          </a:ln>
        </p:spPr>
      </p:sp>
      <p:sp>
        <p:nvSpPr>
          <p:cNvPr id="25" name="Text 23"/>
          <p:cNvSpPr/>
          <p:nvPr/>
        </p:nvSpPr>
        <p:spPr>
          <a:xfrm>
            <a:off x="548640" y="3602736"/>
            <a:ext cx="8321040" cy="36576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Maize yields are nearly 4x higher than sorghum yields on average — maize is the more productive staple crop in Karamoja</a:t>
            </a:r>
            <a:endParaRPr lang="en-US" sz="1150" dirty="0"/>
          </a:p>
        </p:txBody>
      </p:sp>
      <p:sp>
        <p:nvSpPr>
          <p:cNvPr id="26" name="Shape 24"/>
          <p:cNvSpPr/>
          <p:nvPr/>
        </p:nvSpPr>
        <p:spPr>
          <a:xfrm>
            <a:off x="182880" y="4069080"/>
            <a:ext cx="256032" cy="256032"/>
          </a:xfrm>
          <a:prstGeom prst="ellipse">
            <a:avLst/>
          </a:prstGeom>
          <a:solidFill>
            <a:srgbClr val="F4A261"/>
          </a:solidFill>
          <a:ln w="12700">
            <a:solidFill>
              <a:srgbClr val="F4A261"/>
            </a:solidFill>
            <a:prstDash val="solid"/>
          </a:ln>
        </p:spPr>
      </p:sp>
      <p:sp>
        <p:nvSpPr>
          <p:cNvPr id="27" name="Text 25"/>
          <p:cNvSpPr/>
          <p:nvPr/>
        </p:nvSpPr>
        <p:spPr>
          <a:xfrm>
            <a:off x="548640" y="4041648"/>
            <a:ext cx="8321040" cy="36576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MOROTO is the most food insecure district, recording the lowest yields for BOTH maize (355 KgHa) and sorghum (128 KgHa)</a:t>
            </a:r>
            <a:endParaRPr lang="en-US" sz="1150" dirty="0"/>
          </a:p>
        </p:txBody>
      </p:sp>
      <p:sp>
        <p:nvSpPr>
          <p:cNvPr id="28" name="Shape 26"/>
          <p:cNvSpPr/>
          <p:nvPr/>
        </p:nvSpPr>
        <p:spPr>
          <a:xfrm>
            <a:off x="182880" y="4507992"/>
            <a:ext cx="256032" cy="256032"/>
          </a:xfrm>
          <a:prstGeom prst="ellipse">
            <a:avLst/>
          </a:prstGeom>
          <a:solidFill>
            <a:srgbClr val="F4A261"/>
          </a:solidFill>
          <a:ln w="12700">
            <a:solidFill>
              <a:srgbClr val="F4A261"/>
            </a:solidFill>
            <a:prstDash val="solid"/>
          </a:ln>
        </p:spPr>
      </p:sp>
      <p:sp>
        <p:nvSpPr>
          <p:cNvPr id="29" name="Text 27"/>
          <p:cNvSpPr/>
          <p:nvPr/>
        </p:nvSpPr>
        <p:spPr>
          <a:xfrm>
            <a:off x="548640" y="4480560"/>
            <a:ext cx="8321040" cy="365760"/>
          </a:xfrm>
          <a:prstGeom prst="rect">
            <a:avLst/>
          </a:prstGeom>
          <a:noFill/>
          <a:ln/>
        </p:spPr>
        <p:txBody>
          <a:bodyPr wrap="square" rtlCol="0" anchor="ctr"/>
          <a:lstStyle/>
          <a:p>
            <a:pPr indent="0" marL="0">
              <a:buNone/>
            </a:pPr>
            <a:r>
              <a:rPr lang="en-US" sz="1150" dirty="0">
                <a:solidFill>
                  <a:srgbClr val="1B1B1B"/>
                </a:solidFill>
                <a:latin typeface="Calibri" pitchFamily="34" charset="0"/>
                <a:ea typeface="Calibri" pitchFamily="34" charset="-122"/>
                <a:cs typeface="Calibri" pitchFamily="34" charset="-120"/>
              </a:rPr>
              <a:t>KOTIDO leads sorghum production with 16.6 million Kg total, while NAKAPIRIPIRIT leads maize production with 8.1 million Kg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4332"/>
          </a:solidFill>
          <a:ln w="12700">
            <a:solidFill>
              <a:srgbClr val="1B4332"/>
            </a:solidFill>
            <a:prstDash val="solid"/>
          </a:ln>
        </p:spPr>
      </p:sp>
      <p:sp>
        <p:nvSpPr>
          <p:cNvPr id="3" name="Text 1"/>
          <p:cNvSpPr/>
          <p:nvPr/>
        </p:nvSpPr>
        <p:spPr>
          <a:xfrm>
            <a:off x="365760" y="182880"/>
            <a:ext cx="8229600" cy="594360"/>
          </a:xfrm>
          <a:prstGeom prst="rect">
            <a:avLst/>
          </a:prstGeom>
          <a:noFill/>
          <a:ln/>
        </p:spPr>
        <p:txBody>
          <a:bodyPr wrap="square" rtlCol="0" anchor="ctr"/>
          <a:lstStyle/>
          <a:p>
            <a:pPr indent="0" marL="0">
              <a:buNone/>
            </a:pPr>
            <a:r>
              <a:rPr lang="en-US" sz="3000" b="1" dirty="0">
                <a:solidFill>
                  <a:srgbClr val="1B4332"/>
                </a:solidFill>
                <a:latin typeface="Georgia" pitchFamily="34" charset="0"/>
                <a:ea typeface="Georgia" pitchFamily="34" charset="-122"/>
                <a:cs typeface="Georgia" pitchFamily="34" charset="-120"/>
              </a:rPr>
              <a:t>Visualization Findings</a:t>
            </a:r>
            <a:endParaRPr lang="en-US" sz="3000" dirty="0"/>
          </a:p>
        </p:txBody>
      </p:sp>
      <p:sp>
        <p:nvSpPr>
          <p:cNvPr id="4" name="Shape 2"/>
          <p:cNvSpPr/>
          <p:nvPr/>
        </p:nvSpPr>
        <p:spPr>
          <a:xfrm>
            <a:off x="365760" y="914400"/>
            <a:ext cx="8412480" cy="713232"/>
          </a:xfrm>
          <a:prstGeom prst="rect">
            <a:avLst/>
          </a:prstGeom>
          <a:solidFill>
            <a:srgbClr val="FFFFFF"/>
          </a:solidFill>
          <a:ln w="12700">
            <a:solidFill>
              <a:srgbClr val="E76F0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914400"/>
            <a:ext cx="73152" cy="713232"/>
          </a:xfrm>
          <a:prstGeom prst="rect">
            <a:avLst/>
          </a:prstGeom>
          <a:solidFill>
            <a:srgbClr val="E76F00"/>
          </a:solidFill>
          <a:ln w="12700">
            <a:solidFill>
              <a:srgbClr val="E76F00"/>
            </a:solidFill>
            <a:prstDash val="solid"/>
          </a:ln>
        </p:spPr>
      </p:sp>
      <p:sp>
        <p:nvSpPr>
          <p:cNvPr id="6" name="Text 4"/>
          <p:cNvSpPr/>
          <p:nvPr/>
        </p:nvSpPr>
        <p:spPr>
          <a:xfrm>
            <a:off x="548640" y="932688"/>
            <a:ext cx="3200400" cy="320040"/>
          </a:xfrm>
          <a:prstGeom prst="rect">
            <a:avLst/>
          </a:prstGeom>
          <a:noFill/>
          <a:ln/>
        </p:spPr>
        <p:txBody>
          <a:bodyPr wrap="square" rtlCol="0" anchor="ctr"/>
          <a:lstStyle/>
          <a:p>
            <a:pPr indent="0" marL="0">
              <a:buNone/>
            </a:pPr>
            <a:r>
              <a:rPr lang="en-US" sz="1100" b="1" dirty="0">
                <a:solidFill>
                  <a:srgbClr val="1B4332"/>
                </a:solidFill>
                <a:latin typeface="Georgia" pitchFamily="34" charset="0"/>
                <a:ea typeface="Georgia" pitchFamily="34" charset="-122"/>
                <a:cs typeface="Georgia" pitchFamily="34" charset="-120"/>
              </a:rPr>
              <a:t>📊 Bar Chart — Sorghum Yield by District</a:t>
            </a:r>
            <a:endParaRPr lang="en-US" sz="1100" dirty="0"/>
          </a:p>
        </p:txBody>
      </p:sp>
      <p:sp>
        <p:nvSpPr>
          <p:cNvPr id="7" name="Text 5"/>
          <p:cNvSpPr/>
          <p:nvPr/>
        </p:nvSpPr>
        <p:spPr>
          <a:xfrm>
            <a:off x="548640" y="1252728"/>
            <a:ext cx="8046720" cy="320040"/>
          </a:xfrm>
          <a:prstGeom prst="rect">
            <a:avLst/>
          </a:prstGeom>
          <a:noFill/>
          <a:ln/>
        </p:spPr>
        <p:txBody>
          <a:bodyPr wrap="square" rtlCol="0" anchor="ctr"/>
          <a:lstStyle/>
          <a:p>
            <a:pPr indent="0" marL="0">
              <a:buNone/>
            </a:pPr>
            <a:r>
              <a:rPr lang="en-US" sz="1050" dirty="0">
                <a:solidFill>
                  <a:srgbClr val="1B1B1B"/>
                </a:solidFill>
                <a:latin typeface="Calibri" pitchFamily="34" charset="0"/>
                <a:ea typeface="Calibri" pitchFamily="34" charset="-122"/>
                <a:cs typeface="Calibri" pitchFamily="34" charset="-120"/>
              </a:rPr>
              <a:t>ABIM leads with 449 KgHa, followed by NAKAPIRIPIRIT (356) and KOTIDO (331). MOROTO (128) and NAPAK (137) are critically low, indicating severe food insecurity risk.</a:t>
            </a:r>
            <a:endParaRPr lang="en-US" sz="1050" dirty="0"/>
          </a:p>
        </p:txBody>
      </p:sp>
      <p:sp>
        <p:nvSpPr>
          <p:cNvPr id="8" name="Shape 6"/>
          <p:cNvSpPr/>
          <p:nvPr/>
        </p:nvSpPr>
        <p:spPr>
          <a:xfrm>
            <a:off x="365760" y="1719072"/>
            <a:ext cx="8412480" cy="713232"/>
          </a:xfrm>
          <a:prstGeom prst="rect">
            <a:avLst/>
          </a:prstGeom>
          <a:solidFill>
            <a:srgbClr val="FFFFFF"/>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365760" y="1719072"/>
            <a:ext cx="73152" cy="713232"/>
          </a:xfrm>
          <a:prstGeom prst="rect">
            <a:avLst/>
          </a:prstGeom>
          <a:solidFill>
            <a:srgbClr val="1B4332"/>
          </a:solidFill>
          <a:ln w="12700">
            <a:solidFill>
              <a:srgbClr val="1B4332"/>
            </a:solidFill>
            <a:prstDash val="solid"/>
          </a:ln>
        </p:spPr>
      </p:sp>
      <p:sp>
        <p:nvSpPr>
          <p:cNvPr id="10" name="Text 8"/>
          <p:cNvSpPr/>
          <p:nvPr/>
        </p:nvSpPr>
        <p:spPr>
          <a:xfrm>
            <a:off x="548640" y="1737360"/>
            <a:ext cx="3200400" cy="320040"/>
          </a:xfrm>
          <a:prstGeom prst="rect">
            <a:avLst/>
          </a:prstGeom>
          <a:noFill/>
          <a:ln/>
        </p:spPr>
        <p:txBody>
          <a:bodyPr wrap="square" rtlCol="0" anchor="ctr"/>
          <a:lstStyle/>
          <a:p>
            <a:pPr indent="0" marL="0">
              <a:buNone/>
            </a:pPr>
            <a:r>
              <a:rPr lang="en-US" sz="1100" b="1" dirty="0">
                <a:solidFill>
                  <a:srgbClr val="1B4332"/>
                </a:solidFill>
                <a:latin typeface="Georgia" pitchFamily="34" charset="0"/>
                <a:ea typeface="Georgia" pitchFamily="34" charset="-122"/>
                <a:cs typeface="Georgia" pitchFamily="34" charset="-120"/>
              </a:rPr>
              <a:t>📊 Bar Chart — Maize Yield by District</a:t>
            </a:r>
            <a:endParaRPr lang="en-US" sz="1100" dirty="0"/>
          </a:p>
        </p:txBody>
      </p:sp>
      <p:sp>
        <p:nvSpPr>
          <p:cNvPr id="11" name="Text 9"/>
          <p:cNvSpPr/>
          <p:nvPr/>
        </p:nvSpPr>
        <p:spPr>
          <a:xfrm>
            <a:off x="548640" y="2057400"/>
            <a:ext cx="8046720" cy="320040"/>
          </a:xfrm>
          <a:prstGeom prst="rect">
            <a:avLst/>
          </a:prstGeom>
          <a:noFill/>
          <a:ln/>
        </p:spPr>
        <p:txBody>
          <a:bodyPr wrap="square" rtlCol="0" anchor="ctr"/>
          <a:lstStyle/>
          <a:p>
            <a:pPr indent="0" marL="0">
              <a:buNone/>
            </a:pPr>
            <a:r>
              <a:rPr lang="en-US" sz="1050" dirty="0">
                <a:solidFill>
                  <a:srgbClr val="1B1B1B"/>
                </a:solidFill>
                <a:latin typeface="Calibri" pitchFamily="34" charset="0"/>
                <a:ea typeface="Calibri" pitchFamily="34" charset="-122"/>
                <a:cs typeface="Calibri" pitchFamily="34" charset="-120"/>
              </a:rPr>
              <a:t>AMUDAT tops maize production at 1,297 KgHa, with NAKAPIRIPIRIT (1,264) close behind. MOROTO is again the lowest at 355 KgHa — consistently the most vulnerable district.</a:t>
            </a:r>
            <a:endParaRPr lang="en-US" sz="1050" dirty="0"/>
          </a:p>
        </p:txBody>
      </p:sp>
      <p:sp>
        <p:nvSpPr>
          <p:cNvPr id="12" name="Shape 10"/>
          <p:cNvSpPr/>
          <p:nvPr/>
        </p:nvSpPr>
        <p:spPr>
          <a:xfrm>
            <a:off x="365760" y="2523744"/>
            <a:ext cx="8412480" cy="713232"/>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65760" y="2523744"/>
            <a:ext cx="73152" cy="713232"/>
          </a:xfrm>
          <a:prstGeom prst="rect">
            <a:avLst/>
          </a:prstGeom>
          <a:solidFill>
            <a:srgbClr val="2D6A4F"/>
          </a:solidFill>
          <a:ln w="12700">
            <a:solidFill>
              <a:srgbClr val="2D6A4F"/>
            </a:solidFill>
            <a:prstDash val="solid"/>
          </a:ln>
        </p:spPr>
      </p:sp>
      <p:sp>
        <p:nvSpPr>
          <p:cNvPr id="14" name="Text 12"/>
          <p:cNvSpPr/>
          <p:nvPr/>
        </p:nvSpPr>
        <p:spPr>
          <a:xfrm>
            <a:off x="548640" y="2542032"/>
            <a:ext cx="3200400" cy="320040"/>
          </a:xfrm>
          <a:prstGeom prst="rect">
            <a:avLst/>
          </a:prstGeom>
          <a:noFill/>
          <a:ln/>
        </p:spPr>
        <p:txBody>
          <a:bodyPr wrap="square" rtlCol="0" anchor="ctr"/>
          <a:lstStyle/>
          <a:p>
            <a:pPr indent="0" marL="0">
              <a:buNone/>
            </a:pPr>
            <a:r>
              <a:rPr lang="en-US" sz="1100" b="1" dirty="0">
                <a:solidFill>
                  <a:srgbClr val="1B4332"/>
                </a:solidFill>
                <a:latin typeface="Georgia" pitchFamily="34" charset="0"/>
                <a:ea typeface="Georgia" pitchFamily="34" charset="-122"/>
                <a:cs typeface="Georgia" pitchFamily="34" charset="-120"/>
              </a:rPr>
              <a:t>⚖️ Comparison Chart — Sorghum vs Maize Yield</a:t>
            </a:r>
            <a:endParaRPr lang="en-US" sz="1100" dirty="0"/>
          </a:p>
        </p:txBody>
      </p:sp>
      <p:sp>
        <p:nvSpPr>
          <p:cNvPr id="15" name="Text 13"/>
          <p:cNvSpPr/>
          <p:nvPr/>
        </p:nvSpPr>
        <p:spPr>
          <a:xfrm>
            <a:off x="548640" y="2862072"/>
            <a:ext cx="8046720" cy="320040"/>
          </a:xfrm>
          <a:prstGeom prst="rect">
            <a:avLst/>
          </a:prstGeom>
          <a:noFill/>
          <a:ln/>
        </p:spPr>
        <p:txBody>
          <a:bodyPr wrap="square" rtlCol="0" anchor="ctr"/>
          <a:lstStyle/>
          <a:p>
            <a:pPr indent="0" marL="0">
              <a:buNone/>
            </a:pPr>
            <a:r>
              <a:rPr lang="en-US" sz="1050" dirty="0">
                <a:solidFill>
                  <a:srgbClr val="1B1B1B"/>
                </a:solidFill>
                <a:latin typeface="Calibri" pitchFamily="34" charset="0"/>
                <a:ea typeface="Calibri" pitchFamily="34" charset="-122"/>
                <a:cs typeface="Calibri" pitchFamily="34" charset="-120"/>
              </a:rPr>
              <a:t>Across all 7 districts, maize yields are consistently and significantly higher than sorghum yields. The gap is largest in AMUDAT and NAKAPIRIPIRIT, showing maize dominance.</a:t>
            </a:r>
            <a:endParaRPr lang="en-US" sz="1050" dirty="0"/>
          </a:p>
        </p:txBody>
      </p:sp>
      <p:sp>
        <p:nvSpPr>
          <p:cNvPr id="16" name="Shape 14"/>
          <p:cNvSpPr/>
          <p:nvPr/>
        </p:nvSpPr>
        <p:spPr>
          <a:xfrm>
            <a:off x="365760" y="3328416"/>
            <a:ext cx="8412480" cy="713232"/>
          </a:xfrm>
          <a:prstGeom prst="rect">
            <a:avLst/>
          </a:prstGeom>
          <a:solidFill>
            <a:srgbClr val="FFFFFF"/>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65760" y="3328416"/>
            <a:ext cx="73152" cy="713232"/>
          </a:xfrm>
          <a:prstGeom prst="rect">
            <a:avLst/>
          </a:prstGeom>
          <a:solidFill>
            <a:srgbClr val="F4A261"/>
          </a:solidFill>
          <a:ln w="12700">
            <a:solidFill>
              <a:srgbClr val="F4A261"/>
            </a:solidFill>
            <a:prstDash val="solid"/>
          </a:ln>
        </p:spPr>
      </p:sp>
      <p:sp>
        <p:nvSpPr>
          <p:cNvPr id="18" name="Text 16"/>
          <p:cNvSpPr/>
          <p:nvPr/>
        </p:nvSpPr>
        <p:spPr>
          <a:xfrm>
            <a:off x="548640" y="3346704"/>
            <a:ext cx="3200400" cy="320040"/>
          </a:xfrm>
          <a:prstGeom prst="rect">
            <a:avLst/>
          </a:prstGeom>
          <a:noFill/>
          <a:ln/>
        </p:spPr>
        <p:txBody>
          <a:bodyPr wrap="square" rtlCol="0" anchor="ctr"/>
          <a:lstStyle/>
          <a:p>
            <a:pPr indent="0" marL="0">
              <a:buNone/>
            </a:pPr>
            <a:r>
              <a:rPr lang="en-US" sz="1100" b="1" dirty="0">
                <a:solidFill>
                  <a:srgbClr val="1B4332"/>
                </a:solidFill>
                <a:latin typeface="Georgia" pitchFamily="34" charset="0"/>
                <a:ea typeface="Georgia" pitchFamily="34" charset="-122"/>
                <a:cs typeface="Georgia" pitchFamily="34" charset="-120"/>
              </a:rPr>
              <a:t>📦 Box/Strip Plots — Yield Distribution</a:t>
            </a:r>
            <a:endParaRPr lang="en-US" sz="1100" dirty="0"/>
          </a:p>
        </p:txBody>
      </p:sp>
      <p:sp>
        <p:nvSpPr>
          <p:cNvPr id="19" name="Text 17"/>
          <p:cNvSpPr/>
          <p:nvPr/>
        </p:nvSpPr>
        <p:spPr>
          <a:xfrm>
            <a:off x="548640" y="3666744"/>
            <a:ext cx="8046720" cy="320040"/>
          </a:xfrm>
          <a:prstGeom prst="rect">
            <a:avLst/>
          </a:prstGeom>
          <a:noFill/>
          <a:ln/>
        </p:spPr>
        <p:txBody>
          <a:bodyPr wrap="square" rtlCol="0" anchor="ctr"/>
          <a:lstStyle/>
          <a:p>
            <a:pPr indent="0" marL="0">
              <a:buNone/>
            </a:pPr>
            <a:r>
              <a:rPr lang="en-US" sz="1050" dirty="0">
                <a:solidFill>
                  <a:srgbClr val="1B1B1B"/>
                </a:solidFill>
                <a:latin typeface="Calibri" pitchFamily="34" charset="0"/>
                <a:ea typeface="Calibri" pitchFamily="34" charset="-122"/>
                <a:cs typeface="Calibri" pitchFamily="34" charset="-120"/>
              </a:rPr>
              <a:t>Sorghum shows a wider spread (128–449 KgHa, std=119) compared to maize (355–1297 KgHa, std=321). MOROTO appears as an outlier in both crops — far below the average.</a:t>
            </a:r>
            <a:endParaRPr lang="en-US" sz="1050" dirty="0"/>
          </a:p>
        </p:txBody>
      </p:sp>
      <p:sp>
        <p:nvSpPr>
          <p:cNvPr id="20" name="Shape 18"/>
          <p:cNvSpPr/>
          <p:nvPr/>
        </p:nvSpPr>
        <p:spPr>
          <a:xfrm>
            <a:off x="365760" y="4133088"/>
            <a:ext cx="8412480" cy="713232"/>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4133088"/>
            <a:ext cx="73152" cy="713232"/>
          </a:xfrm>
          <a:prstGeom prst="rect">
            <a:avLst/>
          </a:prstGeom>
          <a:solidFill>
            <a:srgbClr val="5B4FCF"/>
          </a:solidFill>
          <a:ln w="12700">
            <a:solidFill>
              <a:srgbClr val="5B4FCF"/>
            </a:solidFill>
            <a:prstDash val="solid"/>
          </a:ln>
        </p:spPr>
      </p:sp>
      <p:sp>
        <p:nvSpPr>
          <p:cNvPr id="22" name="Text 20"/>
          <p:cNvSpPr/>
          <p:nvPr/>
        </p:nvSpPr>
        <p:spPr>
          <a:xfrm>
            <a:off x="548640" y="4151376"/>
            <a:ext cx="3200400" cy="320040"/>
          </a:xfrm>
          <a:prstGeom prst="rect">
            <a:avLst/>
          </a:prstGeom>
          <a:noFill/>
          <a:ln/>
        </p:spPr>
        <p:txBody>
          <a:bodyPr wrap="square" rtlCol="0" anchor="ctr"/>
          <a:lstStyle/>
          <a:p>
            <a:pPr indent="0" marL="0">
              <a:buNone/>
            </a:pPr>
            <a:r>
              <a:rPr lang="en-US" sz="1100" b="1" dirty="0">
                <a:solidFill>
                  <a:srgbClr val="1B4332"/>
                </a:solidFill>
                <a:latin typeface="Georgia" pitchFamily="34" charset="0"/>
                <a:ea typeface="Georgia" pitchFamily="34" charset="-122"/>
                <a:cs typeface="Georgia" pitchFamily="34" charset="-120"/>
              </a:rPr>
              <a:t>🔵 Scatter Plots — Area vs Production</a:t>
            </a:r>
            <a:endParaRPr lang="en-US" sz="1100" dirty="0"/>
          </a:p>
        </p:txBody>
      </p:sp>
      <p:sp>
        <p:nvSpPr>
          <p:cNvPr id="23" name="Text 21"/>
          <p:cNvSpPr/>
          <p:nvPr/>
        </p:nvSpPr>
        <p:spPr>
          <a:xfrm>
            <a:off x="548640" y="4471416"/>
            <a:ext cx="8046720" cy="320040"/>
          </a:xfrm>
          <a:prstGeom prst="rect">
            <a:avLst/>
          </a:prstGeom>
          <a:noFill/>
          <a:ln/>
        </p:spPr>
        <p:txBody>
          <a:bodyPr wrap="square" rtlCol="0" anchor="ctr"/>
          <a:lstStyle/>
          <a:p>
            <a:pPr indent="0" marL="0">
              <a:buNone/>
            </a:pPr>
            <a:r>
              <a:rPr lang="en-US" sz="1050" dirty="0">
                <a:solidFill>
                  <a:srgbClr val="1B1B1B"/>
                </a:solidFill>
                <a:latin typeface="Calibri" pitchFamily="34" charset="0"/>
                <a:ea typeface="Calibri" pitchFamily="34" charset="-122"/>
                <a:cs typeface="Calibri" pitchFamily="34" charset="-120"/>
              </a:rPr>
              <a:t>Strong positive correlation: districts with more land planted produce more food. NAKAPIRIPIRIT and KAABONG (large maize area) produce the most. MOROTO underperforms despite reasonable land area.</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4332"/>
          </a:solidFill>
          <a:ln w="12700">
            <a:solidFill>
              <a:srgbClr val="1B4332"/>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Recommendations</a:t>
            </a:r>
            <a:endParaRPr lang="en-US" sz="3000" dirty="0"/>
          </a:p>
        </p:txBody>
      </p:sp>
      <p:sp>
        <p:nvSpPr>
          <p:cNvPr id="4" name="Shape 2"/>
          <p:cNvSpPr/>
          <p:nvPr/>
        </p:nvSpPr>
        <p:spPr>
          <a:xfrm>
            <a:off x="274320" y="1051560"/>
            <a:ext cx="8595360" cy="841248"/>
          </a:xfrm>
          <a:prstGeom prst="rect">
            <a:avLst/>
          </a:prstGeom>
          <a:solidFill>
            <a:srgbClr val="FAFAFA"/>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1051560"/>
            <a:ext cx="594360" cy="841248"/>
          </a:xfrm>
          <a:prstGeom prst="rect">
            <a:avLst/>
          </a:prstGeom>
          <a:solidFill>
            <a:srgbClr val="C0392B"/>
          </a:solidFill>
          <a:ln w="12700">
            <a:solidFill>
              <a:srgbClr val="C0392B"/>
            </a:solidFill>
            <a:prstDash val="solid"/>
          </a:ln>
        </p:spPr>
      </p:sp>
      <p:sp>
        <p:nvSpPr>
          <p:cNvPr id="6" name="Text 4"/>
          <p:cNvSpPr/>
          <p:nvPr/>
        </p:nvSpPr>
        <p:spPr>
          <a:xfrm>
            <a:off x="274320" y="1051560"/>
            <a:ext cx="594360" cy="841248"/>
          </a:xfrm>
          <a:prstGeom prst="rect">
            <a:avLst/>
          </a:prstGeom>
          <a:noFill/>
          <a:ln/>
        </p:spPr>
        <p:txBody>
          <a:bodyPr wrap="square" rtlCol="0" anchor="ctr"/>
          <a:lstStyle/>
          <a:p>
            <a:pPr algn="ctr" indent="0" marL="0">
              <a:buNone/>
            </a:pPr>
            <a:r>
              <a:rPr lang="en-US" sz="1600" b="1" dirty="0">
                <a:solidFill>
                  <a:srgbClr val="FFFFFF"/>
                </a:solidFill>
              </a:rPr>
              <a:t>01</a:t>
            </a:r>
            <a:endParaRPr lang="en-US" sz="1600" dirty="0"/>
          </a:p>
        </p:txBody>
      </p:sp>
      <p:sp>
        <p:nvSpPr>
          <p:cNvPr id="7" name="Text 5"/>
          <p:cNvSpPr/>
          <p:nvPr/>
        </p:nvSpPr>
        <p:spPr>
          <a:xfrm>
            <a:off x="987552" y="1106424"/>
            <a:ext cx="7680960" cy="347472"/>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Urgent Intervention in MOROTO &amp; NAPAK</a:t>
            </a:r>
            <a:endParaRPr lang="en-US" sz="1300" dirty="0"/>
          </a:p>
        </p:txBody>
      </p:sp>
      <p:sp>
        <p:nvSpPr>
          <p:cNvPr id="8" name="Text 6"/>
          <p:cNvSpPr/>
          <p:nvPr/>
        </p:nvSpPr>
        <p:spPr>
          <a:xfrm>
            <a:off x="987552" y="1472184"/>
            <a:ext cx="7680960" cy="365760"/>
          </a:xfrm>
          <a:prstGeom prst="rect">
            <a:avLst/>
          </a:prstGeom>
          <a:noFill/>
          <a:ln/>
        </p:spPr>
        <p:txBody>
          <a:bodyPr wrap="square" rtlCol="0" anchor="ctr"/>
          <a:lstStyle/>
          <a:p>
            <a:pPr indent="0" marL="0">
              <a:buNone/>
            </a:pPr>
            <a:r>
              <a:rPr lang="en-US" sz="1100" dirty="0">
                <a:solidFill>
                  <a:srgbClr val="1B1B1B"/>
                </a:solidFill>
                <a:latin typeface="Calibri" pitchFamily="34" charset="0"/>
                <a:ea typeface="Calibri" pitchFamily="34" charset="-122"/>
                <a:cs typeface="Calibri" pitchFamily="34" charset="-120"/>
              </a:rPr>
              <a:t>These districts recorded the lowest yields for both crops. NGOs should immediately prioritize food aid, improved seeds, fertilizers and irrigation support for these two districts.</a:t>
            </a:r>
            <a:endParaRPr lang="en-US" sz="1100" dirty="0"/>
          </a:p>
        </p:txBody>
      </p:sp>
      <p:sp>
        <p:nvSpPr>
          <p:cNvPr id="9" name="Shape 7"/>
          <p:cNvSpPr/>
          <p:nvPr/>
        </p:nvSpPr>
        <p:spPr>
          <a:xfrm>
            <a:off x="274320" y="2020824"/>
            <a:ext cx="8595360" cy="841248"/>
          </a:xfrm>
          <a:prstGeom prst="rect">
            <a:avLst/>
          </a:prstGeom>
          <a:solidFill>
            <a:srgbClr val="FAFAFA"/>
          </a:solidFill>
          <a:ln w="12700">
            <a:solidFill>
              <a:srgbClr val="F4A261"/>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274320" y="2020824"/>
            <a:ext cx="594360" cy="841248"/>
          </a:xfrm>
          <a:prstGeom prst="rect">
            <a:avLst/>
          </a:prstGeom>
          <a:solidFill>
            <a:srgbClr val="F4A261"/>
          </a:solidFill>
          <a:ln w="12700">
            <a:solidFill>
              <a:srgbClr val="F4A261"/>
            </a:solidFill>
            <a:prstDash val="solid"/>
          </a:ln>
        </p:spPr>
      </p:sp>
      <p:sp>
        <p:nvSpPr>
          <p:cNvPr id="11" name="Text 9"/>
          <p:cNvSpPr/>
          <p:nvPr/>
        </p:nvSpPr>
        <p:spPr>
          <a:xfrm>
            <a:off x="274320" y="2020824"/>
            <a:ext cx="594360" cy="841248"/>
          </a:xfrm>
          <a:prstGeom prst="rect">
            <a:avLst/>
          </a:prstGeom>
          <a:noFill/>
          <a:ln/>
        </p:spPr>
        <p:txBody>
          <a:bodyPr wrap="square" rtlCol="0" anchor="ctr"/>
          <a:lstStyle/>
          <a:p>
            <a:pPr algn="ctr" indent="0" marL="0">
              <a:buNone/>
            </a:pPr>
            <a:r>
              <a:rPr lang="en-US" sz="1600" b="1" dirty="0">
                <a:solidFill>
                  <a:srgbClr val="FFFFFF"/>
                </a:solidFill>
              </a:rPr>
              <a:t>02</a:t>
            </a:r>
            <a:endParaRPr lang="en-US" sz="1600" dirty="0"/>
          </a:p>
        </p:txBody>
      </p:sp>
      <p:sp>
        <p:nvSpPr>
          <p:cNvPr id="12" name="Text 10"/>
          <p:cNvSpPr/>
          <p:nvPr/>
        </p:nvSpPr>
        <p:spPr>
          <a:xfrm>
            <a:off x="987552" y="2075688"/>
            <a:ext cx="7680960" cy="347472"/>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Promote Maize Over Sorghum</a:t>
            </a:r>
            <a:endParaRPr lang="en-US" sz="1300" dirty="0"/>
          </a:p>
        </p:txBody>
      </p:sp>
      <p:sp>
        <p:nvSpPr>
          <p:cNvPr id="13" name="Text 11"/>
          <p:cNvSpPr/>
          <p:nvPr/>
        </p:nvSpPr>
        <p:spPr>
          <a:xfrm>
            <a:off x="987552" y="2441448"/>
            <a:ext cx="7680960" cy="365760"/>
          </a:xfrm>
          <a:prstGeom prst="rect">
            <a:avLst/>
          </a:prstGeom>
          <a:noFill/>
          <a:ln/>
        </p:spPr>
        <p:txBody>
          <a:bodyPr wrap="square" rtlCol="0" anchor="ctr"/>
          <a:lstStyle/>
          <a:p>
            <a:pPr indent="0" marL="0">
              <a:buNone/>
            </a:pPr>
            <a:r>
              <a:rPr lang="en-US" sz="1100" dirty="0">
                <a:solidFill>
                  <a:srgbClr val="1B1B1B"/>
                </a:solidFill>
                <a:latin typeface="Calibri" pitchFamily="34" charset="0"/>
                <a:ea typeface="Calibri" pitchFamily="34" charset="-122"/>
                <a:cs typeface="Calibri" pitchFamily="34" charset="-120"/>
              </a:rPr>
              <a:t>Since maize yields average 986 KgHa compared to sorghum's 269 KgHa, agricultural programs should encourage farmers to shift towards maize cultivation where soil conditions allow.</a:t>
            </a:r>
            <a:endParaRPr lang="en-US" sz="1100" dirty="0"/>
          </a:p>
        </p:txBody>
      </p:sp>
      <p:sp>
        <p:nvSpPr>
          <p:cNvPr id="14" name="Shape 12"/>
          <p:cNvSpPr/>
          <p:nvPr/>
        </p:nvSpPr>
        <p:spPr>
          <a:xfrm>
            <a:off x="274320" y="2990088"/>
            <a:ext cx="8595360" cy="841248"/>
          </a:xfrm>
          <a:prstGeom prst="rect">
            <a:avLst/>
          </a:prstGeom>
          <a:solidFill>
            <a:srgbClr val="FAFAFA"/>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 y="2990088"/>
            <a:ext cx="594360" cy="841248"/>
          </a:xfrm>
          <a:prstGeom prst="rect">
            <a:avLst/>
          </a:prstGeom>
          <a:solidFill>
            <a:srgbClr val="2D6A4F"/>
          </a:solidFill>
          <a:ln w="12700">
            <a:solidFill>
              <a:srgbClr val="2D6A4F"/>
            </a:solidFill>
            <a:prstDash val="solid"/>
          </a:ln>
        </p:spPr>
      </p:sp>
      <p:sp>
        <p:nvSpPr>
          <p:cNvPr id="16" name="Text 14"/>
          <p:cNvSpPr/>
          <p:nvPr/>
        </p:nvSpPr>
        <p:spPr>
          <a:xfrm>
            <a:off x="274320" y="2990088"/>
            <a:ext cx="594360" cy="841248"/>
          </a:xfrm>
          <a:prstGeom prst="rect">
            <a:avLst/>
          </a:prstGeom>
          <a:noFill/>
          <a:ln/>
        </p:spPr>
        <p:txBody>
          <a:bodyPr wrap="square" rtlCol="0" anchor="ctr"/>
          <a:lstStyle/>
          <a:p>
            <a:pPr algn="ctr" indent="0" marL="0">
              <a:buNone/>
            </a:pPr>
            <a:r>
              <a:rPr lang="en-US" sz="1600" b="1" dirty="0">
                <a:solidFill>
                  <a:srgbClr val="FFFFFF"/>
                </a:solidFill>
              </a:rPr>
              <a:t>03</a:t>
            </a:r>
            <a:endParaRPr lang="en-US" sz="1600" dirty="0"/>
          </a:p>
        </p:txBody>
      </p:sp>
      <p:sp>
        <p:nvSpPr>
          <p:cNvPr id="17" name="Text 15"/>
          <p:cNvSpPr/>
          <p:nvPr/>
        </p:nvSpPr>
        <p:spPr>
          <a:xfrm>
            <a:off x="987552" y="3044952"/>
            <a:ext cx="7680960" cy="347472"/>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Expand Cultivated Land Area</a:t>
            </a:r>
            <a:endParaRPr lang="en-US" sz="1300" dirty="0"/>
          </a:p>
        </p:txBody>
      </p:sp>
      <p:sp>
        <p:nvSpPr>
          <p:cNvPr id="18" name="Text 16"/>
          <p:cNvSpPr/>
          <p:nvPr/>
        </p:nvSpPr>
        <p:spPr>
          <a:xfrm>
            <a:off x="987552" y="3410712"/>
            <a:ext cx="7680960" cy="365760"/>
          </a:xfrm>
          <a:prstGeom prst="rect">
            <a:avLst/>
          </a:prstGeom>
          <a:noFill/>
          <a:ln/>
        </p:spPr>
        <p:txBody>
          <a:bodyPr wrap="square" rtlCol="0" anchor="ctr"/>
          <a:lstStyle/>
          <a:p>
            <a:pPr indent="0" marL="0">
              <a:buNone/>
            </a:pPr>
            <a:r>
              <a:rPr lang="en-US" sz="1100" dirty="0">
                <a:solidFill>
                  <a:srgbClr val="1B1B1B"/>
                </a:solidFill>
                <a:latin typeface="Calibri" pitchFamily="34" charset="0"/>
                <a:ea typeface="Calibri" pitchFamily="34" charset="-122"/>
                <a:cs typeface="Calibri" pitchFamily="34" charset="-120"/>
              </a:rPr>
              <a:t>Scatter plot analysis confirms that more area planted leads directly to more production. Government irrigation schemes should open up more arable land in low-yield districts.</a:t>
            </a:r>
            <a:endParaRPr lang="en-US" sz="1100" dirty="0"/>
          </a:p>
        </p:txBody>
      </p:sp>
      <p:sp>
        <p:nvSpPr>
          <p:cNvPr id="19" name="Shape 17"/>
          <p:cNvSpPr/>
          <p:nvPr/>
        </p:nvSpPr>
        <p:spPr>
          <a:xfrm>
            <a:off x="274320" y="3959352"/>
            <a:ext cx="8595360" cy="841248"/>
          </a:xfrm>
          <a:prstGeom prst="rect">
            <a:avLst/>
          </a:prstGeom>
          <a:solidFill>
            <a:srgbClr val="FAFAFA"/>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274320" y="3959352"/>
            <a:ext cx="594360" cy="841248"/>
          </a:xfrm>
          <a:prstGeom prst="rect">
            <a:avLst/>
          </a:prstGeom>
          <a:solidFill>
            <a:srgbClr val="1B4332"/>
          </a:solidFill>
          <a:ln w="12700">
            <a:solidFill>
              <a:srgbClr val="1B4332"/>
            </a:solidFill>
            <a:prstDash val="solid"/>
          </a:ln>
        </p:spPr>
      </p:sp>
      <p:sp>
        <p:nvSpPr>
          <p:cNvPr id="21" name="Text 19"/>
          <p:cNvSpPr/>
          <p:nvPr/>
        </p:nvSpPr>
        <p:spPr>
          <a:xfrm>
            <a:off x="274320" y="3959352"/>
            <a:ext cx="594360" cy="841248"/>
          </a:xfrm>
          <a:prstGeom prst="rect">
            <a:avLst/>
          </a:prstGeom>
          <a:noFill/>
          <a:ln/>
        </p:spPr>
        <p:txBody>
          <a:bodyPr wrap="square" rtlCol="0" anchor="ctr"/>
          <a:lstStyle/>
          <a:p>
            <a:pPr algn="ctr" indent="0" marL="0">
              <a:buNone/>
            </a:pPr>
            <a:r>
              <a:rPr lang="en-US" sz="1600" b="1" dirty="0">
                <a:solidFill>
                  <a:srgbClr val="FFFFFF"/>
                </a:solidFill>
              </a:rPr>
              <a:t>04</a:t>
            </a:r>
            <a:endParaRPr lang="en-US" sz="1600" dirty="0"/>
          </a:p>
        </p:txBody>
      </p:sp>
      <p:sp>
        <p:nvSpPr>
          <p:cNvPr id="22" name="Text 20"/>
          <p:cNvSpPr/>
          <p:nvPr/>
        </p:nvSpPr>
        <p:spPr>
          <a:xfrm>
            <a:off x="987552" y="4014216"/>
            <a:ext cx="7680960" cy="347472"/>
          </a:xfrm>
          <a:prstGeom prst="rect">
            <a:avLst/>
          </a:prstGeom>
          <a:noFill/>
          <a:ln/>
        </p:spPr>
        <p:txBody>
          <a:bodyPr wrap="square" rtlCol="0" anchor="ctr"/>
          <a:lstStyle/>
          <a:p>
            <a:pPr indent="0" marL="0">
              <a:buNone/>
            </a:pPr>
            <a:r>
              <a:rPr lang="en-US" sz="1300" b="1" dirty="0">
                <a:solidFill>
                  <a:srgbClr val="1B4332"/>
                </a:solidFill>
                <a:latin typeface="Georgia" pitchFamily="34" charset="0"/>
                <a:ea typeface="Georgia" pitchFamily="34" charset="-122"/>
                <a:cs typeface="Georgia" pitchFamily="34" charset="-120"/>
              </a:rPr>
              <a:t>Use the Tableau Dashboard for Ongoing Monitoring</a:t>
            </a:r>
            <a:endParaRPr lang="en-US" sz="1300" dirty="0"/>
          </a:p>
        </p:txBody>
      </p:sp>
      <p:sp>
        <p:nvSpPr>
          <p:cNvPr id="23" name="Text 21"/>
          <p:cNvSpPr/>
          <p:nvPr/>
        </p:nvSpPr>
        <p:spPr>
          <a:xfrm>
            <a:off x="987552" y="4379976"/>
            <a:ext cx="7680960" cy="365760"/>
          </a:xfrm>
          <a:prstGeom prst="rect">
            <a:avLst/>
          </a:prstGeom>
          <a:noFill/>
          <a:ln/>
        </p:spPr>
        <p:txBody>
          <a:bodyPr wrap="square" rtlCol="0" anchor="ctr"/>
          <a:lstStyle/>
          <a:p>
            <a:pPr indent="0" marL="0">
              <a:buNone/>
            </a:pPr>
            <a:r>
              <a:rPr lang="en-US" sz="1100" dirty="0">
                <a:solidFill>
                  <a:srgbClr val="1B1B1B"/>
                </a:solidFill>
                <a:latin typeface="Calibri" pitchFamily="34" charset="0"/>
                <a:ea typeface="Calibri" pitchFamily="34" charset="-122"/>
                <a:cs typeface="Calibri" pitchFamily="34" charset="-120"/>
              </a:rPr>
              <a:t>The interactive dashboard allows NGOs to click any district and instantly see all crop statistics. This should be used every season to track changes and direct resources efficiently.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261"/>
          </a:solidFill>
          <a:ln w="12700">
            <a:solidFill>
              <a:srgbClr val="F4A261"/>
            </a:solidFill>
            <a:prstDash val="solid"/>
          </a:ln>
        </p:spPr>
      </p:sp>
      <p:sp>
        <p:nvSpPr>
          <p:cNvPr id="3" name="Text 1"/>
          <p:cNvSpPr/>
          <p:nvPr/>
        </p:nvSpPr>
        <p:spPr>
          <a:xfrm>
            <a:off x="548640" y="228600"/>
            <a:ext cx="804672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Conclusion</a:t>
            </a:r>
            <a:endParaRPr lang="en-US" sz="3600" dirty="0"/>
          </a:p>
        </p:txBody>
      </p:sp>
      <p:sp>
        <p:nvSpPr>
          <p:cNvPr id="4" name="Text 2"/>
          <p:cNvSpPr/>
          <p:nvPr/>
        </p:nvSpPr>
        <p:spPr>
          <a:xfrm>
            <a:off x="548640" y="1051560"/>
            <a:ext cx="8046720" cy="731520"/>
          </a:xfrm>
          <a:prstGeom prst="rect">
            <a:avLst/>
          </a:prstGeom>
          <a:noFill/>
          <a:ln/>
        </p:spPr>
        <p:txBody>
          <a:bodyPr wrap="square" rtlCol="0" anchor="ctr"/>
          <a:lstStyle/>
          <a:p>
            <a:pPr indent="0" marL="0">
              <a:buNone/>
            </a:pPr>
            <a:r>
              <a:rPr lang="en-US" sz="1400" dirty="0">
                <a:solidFill>
                  <a:srgbClr val="95D5B2"/>
                </a:solidFill>
                <a:latin typeface="Calibri" pitchFamily="34" charset="0"/>
                <a:ea typeface="Calibri" pitchFamily="34" charset="-122"/>
                <a:cs typeface="Calibri" pitchFamily="34" charset="-120"/>
              </a:rPr>
              <a:t>This analysis successfully created a food security monitoring tool for the Karamoja region using real district and sub-county crop data, Python data analysis, and an interactive Tableau dashboard.</a:t>
            </a:r>
            <a:endParaRPr lang="en-US" sz="1400" dirty="0"/>
          </a:p>
        </p:txBody>
      </p:sp>
      <p:sp>
        <p:nvSpPr>
          <p:cNvPr id="5" name="Shape 3"/>
          <p:cNvSpPr/>
          <p:nvPr/>
        </p:nvSpPr>
        <p:spPr>
          <a:xfrm>
            <a:off x="548640" y="1920240"/>
            <a:ext cx="320040" cy="320040"/>
          </a:xfrm>
          <a:prstGeom prst="rect">
            <a:avLst/>
          </a:prstGeom>
          <a:solidFill>
            <a:srgbClr val="F4A261"/>
          </a:solidFill>
          <a:ln w="12700">
            <a:solidFill>
              <a:srgbClr val="F4A261"/>
            </a:solidFill>
            <a:prstDash val="solid"/>
          </a:ln>
        </p:spPr>
      </p:sp>
      <p:sp>
        <p:nvSpPr>
          <p:cNvPr id="6" name="Text 4"/>
          <p:cNvSpPr/>
          <p:nvPr/>
        </p:nvSpPr>
        <p:spPr>
          <a:xfrm>
            <a:off x="1005840" y="1892808"/>
            <a:ext cx="758952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Maize is nearly 4x more productive than sorghum — a critical insight for food security planning</a:t>
            </a:r>
            <a:endParaRPr lang="en-US" sz="1250" dirty="0"/>
          </a:p>
        </p:txBody>
      </p:sp>
      <p:sp>
        <p:nvSpPr>
          <p:cNvPr id="7" name="Shape 5"/>
          <p:cNvSpPr/>
          <p:nvPr/>
        </p:nvSpPr>
        <p:spPr>
          <a:xfrm>
            <a:off x="548640" y="2496312"/>
            <a:ext cx="320040" cy="320040"/>
          </a:xfrm>
          <a:prstGeom prst="rect">
            <a:avLst/>
          </a:prstGeom>
          <a:solidFill>
            <a:srgbClr val="F4A261"/>
          </a:solidFill>
          <a:ln w="12700">
            <a:solidFill>
              <a:srgbClr val="F4A261"/>
            </a:solidFill>
            <a:prstDash val="solid"/>
          </a:ln>
        </p:spPr>
      </p:sp>
      <p:sp>
        <p:nvSpPr>
          <p:cNvPr id="8" name="Text 6"/>
          <p:cNvSpPr/>
          <p:nvPr/>
        </p:nvSpPr>
        <p:spPr>
          <a:xfrm>
            <a:off x="1005840" y="2468880"/>
            <a:ext cx="758952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MOROTO District is the most food insecure area and needs the most urgent NGO intervention</a:t>
            </a:r>
            <a:endParaRPr lang="en-US" sz="1250" dirty="0"/>
          </a:p>
        </p:txBody>
      </p:sp>
      <p:sp>
        <p:nvSpPr>
          <p:cNvPr id="9" name="Shape 7"/>
          <p:cNvSpPr/>
          <p:nvPr/>
        </p:nvSpPr>
        <p:spPr>
          <a:xfrm>
            <a:off x="548640" y="3072384"/>
            <a:ext cx="320040" cy="320040"/>
          </a:xfrm>
          <a:prstGeom prst="rect">
            <a:avLst/>
          </a:prstGeom>
          <a:solidFill>
            <a:srgbClr val="F4A261"/>
          </a:solidFill>
          <a:ln w="12700">
            <a:solidFill>
              <a:srgbClr val="F4A261"/>
            </a:solidFill>
            <a:prstDash val="solid"/>
          </a:ln>
        </p:spPr>
      </p:sp>
      <p:sp>
        <p:nvSpPr>
          <p:cNvPr id="10" name="Text 8"/>
          <p:cNvSpPr/>
          <p:nvPr/>
        </p:nvSpPr>
        <p:spPr>
          <a:xfrm>
            <a:off x="1005840" y="3044952"/>
            <a:ext cx="758952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Zero missing values in the dataset confirms high data quality and reliable analysis results</a:t>
            </a:r>
            <a:endParaRPr lang="en-US" sz="1250" dirty="0"/>
          </a:p>
        </p:txBody>
      </p:sp>
      <p:sp>
        <p:nvSpPr>
          <p:cNvPr id="11" name="Shape 9"/>
          <p:cNvSpPr/>
          <p:nvPr/>
        </p:nvSpPr>
        <p:spPr>
          <a:xfrm>
            <a:off x="548640" y="3648456"/>
            <a:ext cx="320040" cy="320040"/>
          </a:xfrm>
          <a:prstGeom prst="rect">
            <a:avLst/>
          </a:prstGeom>
          <a:solidFill>
            <a:srgbClr val="F4A261"/>
          </a:solidFill>
          <a:ln w="12700">
            <a:solidFill>
              <a:srgbClr val="F4A261"/>
            </a:solidFill>
            <a:prstDash val="solid"/>
          </a:ln>
        </p:spPr>
      </p:sp>
      <p:sp>
        <p:nvSpPr>
          <p:cNvPr id="12" name="Text 10"/>
          <p:cNvSpPr/>
          <p:nvPr/>
        </p:nvSpPr>
        <p:spPr>
          <a:xfrm>
            <a:off x="1005840" y="3621024"/>
            <a:ext cx="758952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Tableau interactive dashboard enables real-time, district-level food security monitoring</a:t>
            </a:r>
            <a:endParaRPr lang="en-US" sz="1250" dirty="0"/>
          </a:p>
        </p:txBody>
      </p:sp>
      <p:sp>
        <p:nvSpPr>
          <p:cNvPr id="13" name="Shape 11"/>
          <p:cNvSpPr/>
          <p:nvPr/>
        </p:nvSpPr>
        <p:spPr>
          <a:xfrm>
            <a:off x="548640" y="4224528"/>
            <a:ext cx="320040" cy="320040"/>
          </a:xfrm>
          <a:prstGeom prst="rect">
            <a:avLst/>
          </a:prstGeom>
          <a:solidFill>
            <a:srgbClr val="F4A261"/>
          </a:solidFill>
          <a:ln w="12700">
            <a:solidFill>
              <a:srgbClr val="F4A261"/>
            </a:solidFill>
            <a:prstDash val="solid"/>
          </a:ln>
        </p:spPr>
      </p:sp>
      <p:sp>
        <p:nvSpPr>
          <p:cNvPr id="14" name="Text 12"/>
          <p:cNvSpPr/>
          <p:nvPr/>
        </p:nvSpPr>
        <p:spPr>
          <a:xfrm>
            <a:off x="1005840" y="4197096"/>
            <a:ext cx="7589520" cy="38404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This tool gives NGOs the data evidence they need to make faster, smarter aid decisions</a:t>
            </a:r>
            <a:endParaRPr lang="en-US" sz="1250" dirty="0"/>
          </a:p>
        </p:txBody>
      </p:sp>
      <p:sp>
        <p:nvSpPr>
          <p:cNvPr id="15" name="Shape 13"/>
          <p:cNvSpPr/>
          <p:nvPr/>
        </p:nvSpPr>
        <p:spPr>
          <a:xfrm>
            <a:off x="0" y="4663440"/>
            <a:ext cx="9144000" cy="480060"/>
          </a:xfrm>
          <a:prstGeom prst="rect">
            <a:avLst/>
          </a:prstGeom>
          <a:solidFill>
            <a:srgbClr val="2D6A4F"/>
          </a:solidFill>
          <a:ln w="12700">
            <a:solidFill>
              <a:srgbClr val="2D6A4F"/>
            </a:solidFill>
            <a:prstDash val="solid"/>
          </a:ln>
        </p:spPr>
      </p:sp>
      <p:sp>
        <p:nvSpPr>
          <p:cNvPr id="16" name="Text 14"/>
          <p:cNvSpPr/>
          <p:nvPr/>
        </p:nvSpPr>
        <p:spPr>
          <a:xfrm>
            <a:off x="457200" y="4727448"/>
            <a:ext cx="8229600" cy="347472"/>
          </a:xfrm>
          <a:prstGeom prst="rect">
            <a:avLst/>
          </a:prstGeom>
          <a:noFill/>
          <a:ln/>
        </p:spPr>
        <p:txBody>
          <a:bodyPr wrap="square" rtlCol="0" anchor="ctr"/>
          <a:lstStyle/>
          <a:p>
            <a:pPr algn="ctr" indent="0" marL="0">
              <a:buNone/>
            </a:pPr>
            <a:r>
              <a:rPr lang="en-US" sz="1100" dirty="0">
                <a:solidFill>
                  <a:srgbClr val="95D5B2"/>
                </a:solidFill>
                <a:latin typeface="Calibri" pitchFamily="34" charset="0"/>
                <a:ea typeface="Calibri" pitchFamily="34" charset="-122"/>
                <a:cs typeface="Calibri" pitchFamily="34" charset="-120"/>
              </a:rPr>
              <a:t>Karamoja Food Security Monitoring Tool  |  Veronica Mwihaki  |  16th February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Karamoja Food Security Monitoring Tool</dc:title>
  <dc:subject>PptxGenJS Presentation</dc:subject>
  <dc:creator>PptxGenJS</dc:creator>
  <cp:lastModifiedBy>PptxGenJS</cp:lastModifiedBy>
  <cp:revision>1</cp:revision>
  <dcterms:created xsi:type="dcterms:W3CDTF">2026-02-22T19:23:56Z</dcterms:created>
  <dcterms:modified xsi:type="dcterms:W3CDTF">2026-02-22T19:23:56Z</dcterms:modified>
</cp:coreProperties>
</file>